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503920" y="0"/>
            <a:ext cx="3685032" cy="6858000"/>
          </a:xfrm>
          <a:prstGeom prst="rect">
            <a:avLst/>
          </a:prstGeom>
          <a:solidFill>
            <a:srgbClr val="162035"/>
          </a:solidFill>
          <a:ln w="12700">
            <a:solidFill>
              <a:srgbClr val="16203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1097280"/>
            <a:ext cx="75895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Amazon Apparel</a:t>
            </a:r>
            <a:endParaRPr lang="en-US" sz="4200" dirty="0"/>
          </a:p>
        </p:txBody>
      </p:sp>
      <p:sp>
        <p:nvSpPr>
          <p:cNvPr id="5" name="Text 3"/>
          <p:cNvSpPr/>
          <p:nvPr/>
        </p:nvSpPr>
        <p:spPr>
          <a:xfrm>
            <a:off x="731520" y="1965960"/>
            <a:ext cx="75895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Profiles → Year-Long Deal Campaign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731520" y="2651760"/>
            <a:ext cx="7315200" cy="0"/>
          </a:xfrm>
          <a:prstGeom prst="line">
            <a:avLst/>
          </a:prstGeom>
          <a:noFill/>
          <a:ln w="25400">
            <a:solidFill>
              <a:srgbClr val="EA580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2834640"/>
            <a:ext cx="7589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Graduate Capstone Project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686800" y="1097280"/>
            <a:ext cx="32918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Millions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8686800" y="169164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product records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8686800" y="2377440"/>
            <a:ext cx="32918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8686800" y="297180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profiles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686800" y="3657600"/>
            <a:ext cx="32918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52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8686800" y="425196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weekly deals per profile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8686800" y="4937760"/>
            <a:ext cx="32918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CLV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8686800" y="553212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profile estimated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274320"/>
            <a:ext cx="11521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 &amp; Our Framing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20040" y="960120"/>
            <a:ext cx="1152144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040" y="1097280"/>
            <a:ext cx="5303520" cy="2011680"/>
          </a:xfrm>
          <a:prstGeom prst="rect">
            <a:avLst/>
          </a:prstGeom>
          <a:solidFill>
            <a:srgbClr val="DBEAFE"/>
          </a:solidFill>
          <a:ln w="12700">
            <a:solidFill>
              <a:srgbClr val="2563EB"/>
            </a:solidFill>
            <a:prstDash val="solid"/>
          </a:ln>
          <a:effectLst>
            <a:outerShdw sx="100000" sy="100000" kx="0" ky="0" algn="bl" rotWithShape="0" blurRad="38100" dist="25400" dir="2700000">
              <a:srgbClr val="AAAAAA">
                <a:alpha val="7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20040" y="1188720"/>
            <a:ext cx="11521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Business Problem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11480" y="1508760"/>
            <a:ext cx="512064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spcAft>
                <a:spcPts val="400"/>
              </a:spcAft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Amazon apparel catalogue: millions of products, no customer transaction log</a:t>
            </a:r>
            <a:endParaRPr lang="en-US" sz="1200" dirty="0"/>
          </a:p>
          <a:p>
            <a:pPr>
              <a:spcAft>
                <a:spcPts val="400"/>
              </a:spcAft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are the customers? What do they buy? How do we reach them?</a:t>
            </a:r>
            <a:endParaRPr lang="en-US" sz="1200" dirty="0"/>
          </a:p>
          <a:p>
            <a:pPr>
              <a:spcAft>
                <a:spcPts val="400"/>
              </a:spcAft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do we turn raw product data into a year of targeted deals?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852160" y="1097280"/>
            <a:ext cx="5943600" cy="2011680"/>
          </a:xfrm>
          <a:prstGeom prst="rect">
            <a:avLst/>
          </a:prstGeom>
          <a:solidFill>
            <a:srgbClr val="FEF3C7"/>
          </a:solidFill>
          <a:ln w="12700">
            <a:solidFill>
              <a:srgbClr val="EA580C"/>
            </a:solidFill>
            <a:prstDash val="solid"/>
          </a:ln>
          <a:effectLst>
            <a:outerShdw sx="100000" sy="100000" kx="0" ky="0" algn="bl" rotWithShape="0" blurRad="38100" dist="25400" dir="2700000">
              <a:srgbClr val="AAAAAA">
                <a:alpha val="7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5943600" y="1188720"/>
            <a:ext cx="11521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Framing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943600" y="1508760"/>
            <a:ext cx="566928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spcAft>
                <a:spcPts val="400"/>
              </a:spcAft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Products co-purchased together define taste neighborhoods</a:t>
            </a:r>
            <a:endParaRPr lang="en-US" sz="1200" dirty="0"/>
          </a:p>
          <a:p>
            <a:pPr>
              <a:spcAft>
                <a:spcPts val="400"/>
              </a:spcAft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 those neighborhoods → synthetic customer profiles</a:t>
            </a:r>
            <a:endParaRPr lang="en-US" sz="1200" dirty="0"/>
          </a:p>
          <a:p>
            <a:pPr>
              <a:spcAft>
                <a:spcPts val="400"/>
              </a:spcAft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held-out products to build each profile's 52-week deal calendar</a:t>
            </a:r>
            <a:endParaRPr lang="en-US" sz="1200" dirty="0"/>
          </a:p>
          <a:p>
            <a:pPr>
              <a:spcAft>
                <a:spcPts val="400"/>
              </a:spcAft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conversion &amp; value without a transaction log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20040" y="3291840"/>
            <a:ext cx="11521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Flow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320040" y="3566160"/>
            <a:ext cx="1737360" cy="731520"/>
          </a:xfrm>
          <a:prstGeom prst="rect">
            <a:avLst/>
          </a:prstGeom>
          <a:solidFill>
            <a:srgbClr val="E2E8F0"/>
          </a:solidFill>
          <a:ln w="12700">
            <a:solidFill>
              <a:srgbClr val="64748B"/>
            </a:solidFill>
            <a:prstDash val="solid"/>
          </a:ln>
          <a:effectLst>
            <a:outerShdw sx="100000" sy="100000" kx="0" ky="0" algn="bl" rotWithShape="0" blurRad="38100" dist="25400" dir="2700000">
              <a:srgbClr val="AAAAAA">
                <a:alpha val="7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320040" y="3566160"/>
            <a:ext cx="1737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JSON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Corpus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2057400" y="3749040"/>
            <a:ext cx="228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64748B"/>
                </a:solidFill>
              </a:rPr>
              <a:t>→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2286000" y="3566160"/>
            <a:ext cx="1737360" cy="731520"/>
          </a:xfrm>
          <a:prstGeom prst="rect">
            <a:avLst/>
          </a:prstGeom>
          <a:solidFill>
            <a:srgbClr val="DBEAFE"/>
          </a:solidFill>
          <a:ln w="12700">
            <a:solidFill>
              <a:srgbClr val="2563EB"/>
            </a:solidFill>
            <a:prstDash val="solid"/>
          </a:ln>
          <a:effectLst>
            <a:outerShdw sx="100000" sy="100000" kx="0" ky="0" algn="bl" rotWithShape="0" blurRad="38100" dist="25400" dir="2700000">
              <a:srgbClr val="AAAAAA">
                <a:alpha val="75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2286000" y="3566160"/>
            <a:ext cx="1737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 &amp;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Normalize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023360" y="3749040"/>
            <a:ext cx="228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64748B"/>
                </a:solidFill>
              </a:rPr>
              <a:t>→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4251960" y="3566160"/>
            <a:ext cx="1737360" cy="731520"/>
          </a:xfrm>
          <a:prstGeom prst="rect">
            <a:avLst/>
          </a:prstGeom>
          <a:solidFill>
            <a:srgbClr val="DBEAFE"/>
          </a:solidFill>
          <a:ln w="12700">
            <a:solidFill>
              <a:srgbClr val="2563EB"/>
            </a:solidFill>
            <a:prstDash val="solid"/>
          </a:ln>
          <a:effectLst>
            <a:outerShdw sx="100000" sy="100000" kx="0" ky="0" algn="bl" rotWithShape="0" blurRad="38100" dist="25400" dir="2700000">
              <a:srgbClr val="AAAAAA">
                <a:alpha val="75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251960" y="3566160"/>
            <a:ext cx="1737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 &amp;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 Intel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5989320" y="3749040"/>
            <a:ext cx="228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64748B"/>
                </a:solidFill>
              </a:rPr>
              <a:t>→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6217920" y="3566160"/>
            <a:ext cx="1737360" cy="731520"/>
          </a:xfrm>
          <a:prstGeom prst="rect">
            <a:avLst/>
          </a:prstGeom>
          <a:solidFill>
            <a:srgbClr val="DBEAFE"/>
          </a:solidFill>
          <a:ln w="12700">
            <a:solidFill>
              <a:srgbClr val="EA580C"/>
            </a:solidFill>
            <a:prstDash val="solid"/>
          </a:ln>
          <a:effectLst>
            <a:outerShdw sx="100000" sy="100000" kx="0" ky="0" algn="bl" rotWithShape="0" blurRad="38100" dist="25400" dir="2700000">
              <a:srgbClr val="AAAAAA">
                <a:alpha val="75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6217920" y="3566160"/>
            <a:ext cx="1737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KMeans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7955280" y="3749040"/>
            <a:ext cx="228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64748B"/>
                </a:solidFill>
              </a:rPr>
              <a:t>→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8183880" y="3566160"/>
            <a:ext cx="1737360" cy="731520"/>
          </a:xfrm>
          <a:prstGeom prst="rect">
            <a:avLst/>
          </a:prstGeom>
          <a:solidFill>
            <a:srgbClr val="DBEAFE"/>
          </a:solidFill>
          <a:ln w="12700">
            <a:solidFill>
              <a:srgbClr val="2563EB"/>
            </a:solidFill>
            <a:prstDash val="solid"/>
          </a:ln>
          <a:effectLst>
            <a:outerShdw sx="100000" sy="100000" kx="0" ky="0" algn="bl" rotWithShape="0" blurRad="38100" dist="25400" dir="2700000">
              <a:srgbClr val="AAAAAA">
                <a:alpha val="75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8183880" y="3566160"/>
            <a:ext cx="1737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52-Week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Campaign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9921240" y="3749040"/>
            <a:ext cx="228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64748B"/>
                </a:solidFill>
              </a:rPr>
              <a:t>→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10149840" y="3566160"/>
            <a:ext cx="1737360" cy="731520"/>
          </a:xfrm>
          <a:prstGeom prst="rect">
            <a:avLst/>
          </a:prstGeom>
          <a:solidFill>
            <a:srgbClr val="DCFCE7"/>
          </a:solidFill>
          <a:ln w="12700">
            <a:solidFill>
              <a:srgbClr val="166534"/>
            </a:solidFill>
            <a:prstDash val="solid"/>
          </a:ln>
          <a:effectLst>
            <a:outerShdw sx="100000" sy="100000" kx="0" ky="0" algn="bl" rotWithShape="0" blurRad="38100" dist="25400" dir="2700000">
              <a:srgbClr val="AAAAAA">
                <a:alpha val="75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10149840" y="3566160"/>
            <a:ext cx="1737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CLV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Valuation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320040" y="4480560"/>
            <a:ext cx="11430000" cy="13716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38100" dist="25400" dir="2700000">
              <a:srgbClr val="AAAAAA">
                <a:alpha val="75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320040" y="4572000"/>
            <a:ext cx="11521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"Intelligence" Means Here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411480" y="4846320"/>
            <a:ext cx="1124712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have no customers — only products and the links between them. Intelligence is extracted from three layers: taxonomy classification, brand graph relationships, and co-purchase co-occurrence. These proxy signals reconstruct who shops together, even without a login or checkout.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274320"/>
            <a:ext cx="11521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Data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20040" y="960120"/>
            <a:ext cx="1152144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040" y="1097280"/>
            <a:ext cx="5394960" cy="347472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38100" dist="25400" dir="2700000">
              <a:srgbClr val="AAAAAA">
                <a:alpha val="7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20040" y="1234440"/>
            <a:ext cx="11521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 Schema (per product)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1554480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retailerProductId</a:t>
            </a:r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 unique product key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57200" y="1901952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title / desc</a:t>
            </a:r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 free text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2249424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</a:t>
            </a:r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 ~80k raw strings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57200" y="2596896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gender</a:t>
            </a:r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 men / women / unisex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57200" y="2944368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categoryHierarchy</a:t>
            </a:r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 nested path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57200" y="3291840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retailPrice / priceRange</a:t>
            </a:r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 numeric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57200" y="3639312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size</a:t>
            </a:r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 size array → n_sizes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3986784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relatedProducts.BOUGHT_WITH1</a:t>
            </a:r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 also bought  (strong)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57200" y="4334256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relatedProducts.BOUGHT_WITH2</a:t>
            </a:r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 considered/liked  (weak)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897880" y="1097280"/>
            <a:ext cx="5852160" cy="1645920"/>
          </a:xfrm>
          <a:prstGeom prst="rect">
            <a:avLst/>
          </a:prstGeom>
          <a:solidFill>
            <a:srgbClr val="DBEAFE"/>
          </a:solidFill>
          <a:ln w="12700">
            <a:solidFill>
              <a:srgbClr val="2563EB"/>
            </a:solidFill>
            <a:prstDash val="solid"/>
          </a:ln>
          <a:effectLst>
            <a:outerShdw sx="100000" sy="100000" kx="0" ky="0" algn="bl" rotWithShape="0" blurRad="38100" dist="25400" dir="2700000">
              <a:srgbClr val="AAAAAA">
                <a:alpha val="75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035040" y="1234440"/>
            <a:ext cx="11521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Relationship Signals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5989320" y="1554480"/>
            <a:ext cx="566928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spcAft>
                <a:spcPts val="400"/>
              </a:spcAft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BOUGHT_WITH1 — 'also bought'  →  weight 1.0  (backbone)</a:t>
            </a:r>
            <a:endParaRPr lang="en-US" sz="1200" dirty="0"/>
          </a:p>
          <a:p>
            <a:pPr>
              <a:spcAft>
                <a:spcPts val="400"/>
              </a:spcAft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BOUGHT_WITH2 — 'considered/liked'  →  weight 0.35  (supporting)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897880" y="2926080"/>
            <a:ext cx="5852160" cy="1691640"/>
          </a:xfrm>
          <a:prstGeom prst="rect">
            <a:avLst/>
          </a:prstGeom>
          <a:solidFill>
            <a:srgbClr val="FEF3C7"/>
          </a:solidFill>
          <a:ln w="12700">
            <a:solidFill>
              <a:srgbClr val="EA580C"/>
            </a:solidFill>
            <a:prstDash val="solid"/>
          </a:ln>
          <a:effectLst>
            <a:outerShdw sx="100000" sy="100000" kx="0" ky="0" algn="bl" rotWithShape="0" blurRad="38100" dist="25400" dir="2700000">
              <a:srgbClr val="AAAAAA">
                <a:alpha val="75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6035040" y="3063240"/>
            <a:ext cx="11521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Noise Challenge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5989320" y="3383280"/>
            <a:ext cx="5669280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spcAft>
                <a:spcPts val="400"/>
              </a:spcAft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~80,000 raw brand strings (typos, variants, sub-brands)</a:t>
            </a:r>
            <a:endParaRPr lang="en-US" sz="1200" dirty="0"/>
          </a:p>
          <a:p>
            <a:pPr>
              <a:spcAft>
                <a:spcPts val="400"/>
              </a:spcAft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Inconsistent category hierarchies across sellers</a:t>
            </a:r>
            <a:endParaRPr lang="en-US" sz="1200" dirty="0"/>
          </a:p>
          <a:p>
            <a:pPr>
              <a:spcAft>
                <a:spcPts val="400"/>
              </a:spcAft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prices, very short titles, junk records</a:t>
            </a:r>
            <a:endParaRPr lang="en-US" sz="1200" dirty="0"/>
          </a:p>
          <a:p>
            <a:pPr>
              <a:spcAft>
                <a:spcPts val="400"/>
              </a:spcAft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Long-tail brands: &lt; 100 items = noise, excluded from intel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320040" y="4754880"/>
            <a:ext cx="11430000" cy="1371600"/>
          </a:xfrm>
          <a:prstGeom prst="rect">
            <a:avLst/>
          </a:prstGeom>
          <a:solidFill>
            <a:srgbClr val="DCFCE7"/>
          </a:solidFill>
          <a:ln w="12700">
            <a:solidFill>
              <a:srgbClr val="166534"/>
            </a:solidFill>
            <a:prstDash val="solid"/>
          </a:ln>
          <a:effectLst>
            <a:outerShdw sx="100000" sy="100000" kx="0" ky="0" algn="bl" rotWithShape="0" blurRad="38100" dist="25400" dir="2700000">
              <a:srgbClr val="AAAAAA">
                <a:alpha val="75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320040" y="4892040"/>
            <a:ext cx="11521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Discovery / Holdout Split  (70 / 30)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457200" y="5166360"/>
            <a:ext cx="1115568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Products are assigned deterministically to discovery (70%) or holdout (30%) by hashing retailerProductId. Profiles are discovered on the 70%; weekly deals are drawn exclusively from the 30%. This prevents any leakage between profiling and campaign generation.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274320"/>
            <a:ext cx="11521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Handling Scale — and Why It Scales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20040" y="960120"/>
            <a:ext cx="1152144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040" y="1097280"/>
            <a:ext cx="3749040" cy="4389120"/>
          </a:xfrm>
          <a:prstGeom prst="rect">
            <a:avLst/>
          </a:prstGeom>
          <a:solidFill>
            <a:srgbClr val="DBEAFE"/>
          </a:solidFill>
          <a:ln w="12700">
            <a:solidFill>
              <a:srgbClr val="2563EB"/>
            </a:solidFill>
            <a:prstDash val="solid"/>
          </a:ln>
          <a:effectLst>
            <a:outerShdw sx="100000" sy="100000" kx="0" ky="0" algn="bl" rotWithShape="0" blurRad="38100" dist="25400" dir="2700000">
              <a:srgbClr val="AAAAAA">
                <a:alpha val="7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11480" y="1143000"/>
            <a:ext cx="640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411480" y="1143000"/>
            <a:ext cx="3566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Streaming Ingest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457200" y="1691640"/>
            <a:ext cx="3474720" cy="3566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spcAft>
                <a:spcPts val="400"/>
              </a:spcAft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Records streamed in 50k-row batches</a:t>
            </a:r>
            <a:endParaRPr lang="en-US" sz="1200" dirty="0"/>
          </a:p>
          <a:p>
            <a:pPr>
              <a:spcAft>
                <a:spcPts val="400"/>
              </a:spcAft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RAM stays flat regardless of corpus size</a:t>
            </a:r>
            <a:endParaRPr lang="en-US" sz="1200" dirty="0"/>
          </a:p>
          <a:p>
            <a:pPr>
              <a:spcAft>
                <a:spcPts val="400"/>
              </a:spcAft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layouts: millions of *.json files OR *.jsonl shards (auto-detected)</a:t>
            </a:r>
            <a:endParaRPr lang="en-US" sz="1200" dirty="0"/>
          </a:p>
          <a:p>
            <a:pPr>
              <a:spcAft>
                <a:spcPts val="400"/>
              </a:spcAft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Parquet shards flushed incrementally to disk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297680" y="1097280"/>
            <a:ext cx="3749040" cy="4389120"/>
          </a:xfrm>
          <a:prstGeom prst="rect">
            <a:avLst/>
          </a:prstGeom>
          <a:solidFill>
            <a:srgbClr val="FEF3C7"/>
          </a:solidFill>
          <a:ln w="12700">
            <a:solidFill>
              <a:srgbClr val="EA580C"/>
            </a:solidFill>
            <a:prstDash val="solid"/>
          </a:ln>
          <a:effectLst>
            <a:outerShdw sx="100000" sy="100000" kx="0" ky="0" algn="bl" rotWithShape="0" blurRad="38100" dist="25400" dir="2700000">
              <a:srgbClr val="AAAAAA">
                <a:alpha val="7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389120" y="1143000"/>
            <a:ext cx="640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4389120" y="1143000"/>
            <a:ext cx="3566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DuckDB Out-of-Core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434840" y="1691640"/>
            <a:ext cx="3474720" cy="3566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spcAft>
                <a:spcPts val="400"/>
              </a:spcAft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aggregations (brand stats, co-occurrence, graph features) run directly off parquet</a:t>
            </a:r>
            <a:endParaRPr lang="en-US" sz="1200" dirty="0"/>
          </a:p>
          <a:p>
            <a:pPr>
              <a:spcAft>
                <a:spcPts val="400"/>
              </a:spcAft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DuckDB streams off disk — never loads corpus into RAM</a:t>
            </a:r>
            <a:endParaRPr lang="en-US" sz="1200" dirty="0"/>
          </a:p>
          <a:p>
            <a:pPr>
              <a:spcAft>
                <a:spcPts val="400"/>
              </a:spcAft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Larger-than-RAM safe by design</a:t>
            </a:r>
            <a:endParaRPr lang="en-US" sz="1200" dirty="0"/>
          </a:p>
          <a:p>
            <a:pPr>
              <a:spcAft>
                <a:spcPts val="400"/>
              </a:spcAft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SQL-level clarity for every aggregation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8275320" y="1097280"/>
            <a:ext cx="3749040" cy="4389120"/>
          </a:xfrm>
          <a:prstGeom prst="rect">
            <a:avLst/>
          </a:prstGeom>
          <a:solidFill>
            <a:srgbClr val="DCFCE7"/>
          </a:solidFill>
          <a:ln w="12700">
            <a:solidFill>
              <a:srgbClr val="166534"/>
            </a:solidFill>
            <a:prstDash val="solid"/>
          </a:ln>
          <a:effectLst>
            <a:outerShdw sx="100000" sy="100000" kx="0" ky="0" algn="bl" rotWithShape="0" blurRad="38100" dist="25400" dir="2700000">
              <a:srgbClr val="AAAAAA">
                <a:alpha val="7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8366760" y="1143000"/>
            <a:ext cx="640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③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8366760" y="1143000"/>
            <a:ext cx="3566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Disk-Persisted Intermediates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8412480" y="1691640"/>
            <a:ext cx="3474720" cy="3566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spcAft>
                <a:spcPts val="400"/>
              </a:spcAft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stage writes its output to parquet before the next stage starts</a:t>
            </a:r>
            <a:endParaRPr lang="en-US" sz="1200" dirty="0"/>
          </a:p>
          <a:p>
            <a:pPr>
              <a:spcAft>
                <a:spcPts val="400"/>
              </a:spcAft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Crash-recoverable: re-run from any stage</a:t>
            </a:r>
            <a:endParaRPr lang="en-US" sz="1200" dirty="0"/>
          </a:p>
          <a:p>
            <a:pPr>
              <a:spcAft>
                <a:spcPts val="400"/>
              </a:spcAft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Enables the 70/30 split to be computed once and respected everywhere</a:t>
            </a:r>
            <a:endParaRPr lang="en-US" sz="1200" dirty="0"/>
          </a:p>
          <a:p>
            <a:pPr>
              <a:spcAft>
                <a:spcPts val="400"/>
              </a:spcAft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Deterministic — same input always gives same output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320040" y="5669280"/>
            <a:ext cx="11430000" cy="82296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  <a:effectLst>
            <a:outerShdw sx="100000" sy="100000" kx="0" ky="0" algn="bl" rotWithShape="0" blurRad="38100" dist="25400" dir="2700000">
              <a:srgbClr val="AAAAAA">
                <a:alpha val="75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457200" y="5742432"/>
            <a:ext cx="11155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Would survive 100× the data.  Batch size is the only tunable knob.  A cluster or cloud storage swap is the only infrastructure change needed at true web-scale.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274320"/>
            <a:ext cx="11521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Intelligence Layers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20040" y="960120"/>
            <a:ext cx="1152144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040" y="1097280"/>
            <a:ext cx="3566160" cy="5303520"/>
          </a:xfrm>
          <a:prstGeom prst="rect">
            <a:avLst/>
          </a:prstGeom>
          <a:solidFill>
            <a:srgbClr val="DBEAFE"/>
          </a:solidFill>
          <a:ln w="12700">
            <a:solidFill>
              <a:srgbClr val="2563EB"/>
            </a:solidFill>
            <a:prstDash val="solid"/>
          </a:ln>
          <a:effectLst>
            <a:outerShdw sx="100000" sy="100000" kx="0" ky="0" algn="bl" rotWithShape="0" blurRad="38100" dist="25400" dir="2700000">
              <a:srgbClr val="AAAAAA">
                <a:alpha val="7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11480" y="1188720"/>
            <a:ext cx="3383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🏷️  TAXONOMY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11480" y="1691640"/>
            <a:ext cx="3383280" cy="4480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spcAft>
                <a:spcPts val="400"/>
              </a:spcAft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Title + desc + categoryHierarchy → (category, klass)</a:t>
            </a:r>
            <a:endParaRPr lang="en-US" sz="1150" dirty="0"/>
          </a:p>
          <a:p>
            <a:pPr>
              <a:spcAft>
                <a:spcPts val="400"/>
              </a:spcAft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Keyword-trigger rules: ~15 top-level categories</a:t>
            </a:r>
            <a:endParaRPr lang="en-US" sz="1150" dirty="0"/>
          </a:p>
          <a:p>
            <a:pPr>
              <a:spcAft>
                <a:spcPts val="400"/>
              </a:spcAft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e.g. 'leggings' → lowerbody / leggings</a:t>
            </a:r>
            <a:endParaRPr lang="en-US" sz="1150" dirty="0"/>
          </a:p>
          <a:p>
            <a:pPr>
              <a:spcAft>
                <a:spcPts val="400"/>
              </a:spcAft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e.g. 'running shoes' → footwear / athletic</a:t>
            </a:r>
            <a:endParaRPr lang="en-US" sz="1150" dirty="0"/>
          </a:p>
          <a:p>
            <a:pPr>
              <a:spcAft>
                <a:spcPts val="400"/>
              </a:spcAft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e.g. 'handbag' → accessories / bags</a:t>
            </a:r>
            <a:endParaRPr lang="en-US" sz="1150" dirty="0"/>
          </a:p>
          <a:p>
            <a:pPr>
              <a:spcAft>
                <a:spcPts val="400"/>
              </a:spcAft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Unmatched → assorted / other</a:t>
            </a:r>
            <a:endParaRPr lang="en-US" sz="1150" dirty="0"/>
          </a:p>
          <a:p>
            <a:pPr>
              <a:spcAft>
                <a:spcPts val="400"/>
              </a:spcAft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once per shard in Stage 2</a:t>
            </a:r>
            <a:endParaRPr lang="en-US" sz="1150" dirty="0"/>
          </a:p>
          <a:p>
            <a:pPr>
              <a:spcAft>
                <a:spcPts val="400"/>
              </a:spcAft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Enables all downstream category filters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069080" y="1097280"/>
            <a:ext cx="3566160" cy="5303520"/>
          </a:xfrm>
          <a:prstGeom prst="rect">
            <a:avLst/>
          </a:prstGeom>
          <a:solidFill>
            <a:srgbClr val="FEF3C7"/>
          </a:solidFill>
          <a:ln w="12700">
            <a:solidFill>
              <a:srgbClr val="EA580C"/>
            </a:solidFill>
            <a:prstDash val="solid"/>
          </a:ln>
          <a:effectLst>
            <a:outerShdw sx="100000" sy="100000" kx="0" ky="0" algn="bl" rotWithShape="0" blurRad="38100" dist="25400" dir="2700000">
              <a:srgbClr val="AAAAAA">
                <a:alpha val="7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160520" y="1188720"/>
            <a:ext cx="3383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🏪  BRAND STANDARDIZATION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160520" y="1691640"/>
            <a:ext cx="3383280" cy="4480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spcAft>
                <a:spcPts val="400"/>
              </a:spcAft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80k raw brand strings → 376 canonical brands</a:t>
            </a:r>
            <a:endParaRPr lang="en-US" sz="1150" dirty="0"/>
          </a:p>
          <a:p>
            <a:pPr>
              <a:spcAft>
                <a:spcPts val="400"/>
              </a:spcAft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brand_dicitonary.txt: 1,318 variant rules</a:t>
            </a:r>
            <a:endParaRPr lang="en-US" sz="1150" dirty="0"/>
          </a:p>
          <a:p>
            <a:pPr>
              <a:spcAft>
                <a:spcPts val="400"/>
              </a:spcAft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Flattened to brand_map.json (O(1) lookup at runtime)</a:t>
            </a:r>
            <a:endParaRPr lang="en-US" sz="1150" dirty="0"/>
          </a:p>
          <a:p>
            <a:pPr>
              <a:spcAft>
                <a:spcPts val="400"/>
              </a:spcAft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used offline (aggregate list only) to resolve the long tail</a:t>
            </a:r>
            <a:endParaRPr lang="en-US" sz="1150" dirty="0"/>
          </a:p>
          <a:p>
            <a:pPr>
              <a:spcAft>
                <a:spcPts val="400"/>
              </a:spcAft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Real-brand floor: ≥ 100 items required for graph intel</a:t>
            </a:r>
            <a:endParaRPr lang="en-US" sz="1150" dirty="0"/>
          </a:p>
          <a:p>
            <a:pPr>
              <a:spcAft>
                <a:spcPts val="400"/>
              </a:spcAft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Sub-brands ≥ 1,000 items kept as distinct brands</a:t>
            </a:r>
            <a:endParaRPr lang="en-US" sz="1150" dirty="0"/>
          </a:p>
          <a:p>
            <a:pPr>
              <a:spcAft>
                <a:spcPts val="400"/>
              </a:spcAft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~80k strings → a few thousand real brands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7818120" y="1097280"/>
            <a:ext cx="4206240" cy="5303520"/>
          </a:xfrm>
          <a:prstGeom prst="rect">
            <a:avLst/>
          </a:prstGeom>
          <a:solidFill>
            <a:srgbClr val="DCFCE7"/>
          </a:solidFill>
          <a:ln w="12700">
            <a:solidFill>
              <a:srgbClr val="166534"/>
            </a:solidFill>
            <a:prstDash val="solid"/>
          </a:ln>
          <a:effectLst>
            <a:outerShdw sx="100000" sy="100000" kx="0" ky="0" algn="bl" rotWithShape="0" blurRad="38100" dist="25400" dir="2700000">
              <a:srgbClr val="AAAAAA">
                <a:alpha val="7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7909560" y="1188720"/>
            <a:ext cx="4023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🔗  RELATIONSHIP GRAPH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7909560" y="1691640"/>
            <a:ext cx="4023360" cy="4480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spcAft>
                <a:spcPts val="400"/>
              </a:spcAft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 ↔ brand co-occurrence from all BOUGHT_WITH edges</a:t>
            </a:r>
            <a:endParaRPr lang="en-US" sz="1150" dirty="0"/>
          </a:p>
          <a:p>
            <a:pPr>
              <a:spcAft>
                <a:spcPts val="400"/>
              </a:spcAft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BW1 weight 1.0 + BW2 weight 0.35</a:t>
            </a:r>
            <a:endParaRPr lang="en-US" sz="1150" dirty="0"/>
          </a:p>
          <a:p>
            <a:pPr>
              <a:spcAft>
                <a:spcPts val="400"/>
              </a:spcAft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Minimum 3 co-purchases to form an edge</a:t>
            </a:r>
            <a:endParaRPr lang="en-US" sz="1150" dirty="0"/>
          </a:p>
          <a:p>
            <a:pPr>
              <a:spcAft>
                <a:spcPts val="400"/>
              </a:spcAft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igraph eigenvector centrality → 'hub brands'</a:t>
            </a:r>
            <a:endParaRPr lang="en-US" sz="1150" dirty="0"/>
          </a:p>
          <a:p>
            <a:pPr>
              <a:spcAft>
                <a:spcPts val="400"/>
              </a:spcAft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Betweenness → 'bridge brands'</a:t>
            </a:r>
            <a:endParaRPr lang="en-US" sz="1150" dirty="0"/>
          </a:p>
          <a:p>
            <a:pPr>
              <a:spcAft>
                <a:spcPts val="400"/>
              </a:spcAft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 ↔ category for campaign cross-sell</a:t>
            </a:r>
            <a:endParaRPr lang="en-US" sz="1150" dirty="0"/>
          </a:p>
          <a:p>
            <a:pPr>
              <a:spcAft>
                <a:spcPts val="400"/>
              </a:spcAft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 metrics used as KMeans FEATURES</a:t>
            </a:r>
            <a:endParaRPr lang="en-US" sz="1150" dirty="0"/>
          </a:p>
          <a:p>
            <a:pPr>
              <a:spcAft>
                <a:spcPts val="400"/>
              </a:spcAft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the deliverable — they shape the clusters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274320"/>
            <a:ext cx="11521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Products to People — Segmentation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20040" y="960120"/>
            <a:ext cx="1152144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1051560"/>
            <a:ext cx="1152144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There are no customers in the data — only products and product↔product links. A 'customer profile' is synthesised as a coherent taste neighborhood: a cluster of products that share attributes AND co-purchase together. The customer of that type is whoever shops that neighborhood.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20040" y="1920240"/>
            <a:ext cx="3749040" cy="1920240"/>
          </a:xfrm>
          <a:prstGeom prst="rect">
            <a:avLst/>
          </a:prstGeom>
          <a:solidFill>
            <a:srgbClr val="F8FAFC"/>
          </a:solidFill>
          <a:ln w="12700">
            <a:solidFill>
              <a:srgbClr val="2563EB"/>
            </a:solidFill>
            <a:prstDash val="solid"/>
          </a:ln>
          <a:effectLst>
            <a:outerShdw sx="100000" sy="100000" kx="0" ky="0" algn="bl" rotWithShape="0" blurRad="38100" dist="25400" dir="2700000">
              <a:srgbClr val="AAAAAA">
                <a:alpha val="7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11480" y="2011680"/>
            <a:ext cx="502920" cy="502920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1480" y="20116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978408" y="201168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Discovery Split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57200" y="2514600"/>
            <a:ext cx="352044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300k products sampled from the 70% discovery set. Clustering is judgment, not scale — a representative sample is sufficient.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325112" y="1920240"/>
            <a:ext cx="3749040" cy="1920240"/>
          </a:xfrm>
          <a:prstGeom prst="rect">
            <a:avLst/>
          </a:prstGeom>
          <a:solidFill>
            <a:srgbClr val="F8FAFC"/>
          </a:solidFill>
          <a:ln w="12700">
            <a:solidFill>
              <a:srgbClr val="2563EB"/>
            </a:solidFill>
            <a:prstDash val="solid"/>
          </a:ln>
          <a:effectLst>
            <a:outerShdw sx="100000" sy="100000" kx="0" ky="0" algn="bl" rotWithShape="0" blurRad="38100" dist="25400" dir="2700000">
              <a:srgbClr val="AAAAAA">
                <a:alpha val="7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416552" y="2011680"/>
            <a:ext cx="502920" cy="502920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416552" y="20116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983480" y="201168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Feature Matrix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462272" y="2514600"/>
            <a:ext cx="352044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 OHE + price tier OHE + gender OHE + retail_price + brand eigenvector centrality + brand weighted degree. StandardScaler applied.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8330184" y="1920240"/>
            <a:ext cx="3749040" cy="1920240"/>
          </a:xfrm>
          <a:prstGeom prst="rect">
            <a:avLst/>
          </a:prstGeom>
          <a:solidFill>
            <a:srgbClr val="F8FAFC"/>
          </a:solidFill>
          <a:ln w="12700">
            <a:solidFill>
              <a:srgbClr val="2563EB"/>
            </a:solidFill>
            <a:prstDash val="solid"/>
          </a:ln>
          <a:effectLst>
            <a:outerShdw sx="100000" sy="100000" kx="0" ky="0" algn="bl" rotWithShape="0" blurRad="38100" dist="25400" dir="2700000">
              <a:srgbClr val="AAAAAA">
                <a:alpha val="7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8421624" y="2011680"/>
            <a:ext cx="502920" cy="502920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421624" y="20116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8988552" y="201168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KMeans → 12 Clusters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8467344" y="2514600"/>
            <a:ext cx="352044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n=12 forced (brief requirement). n_init=10, random_state=42. HDBSCAN would let count emerge — noted as a limitation.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20040" y="4160520"/>
            <a:ext cx="3749040" cy="1920240"/>
          </a:xfrm>
          <a:prstGeom prst="rect">
            <a:avLst/>
          </a:prstGeom>
          <a:solidFill>
            <a:srgbClr val="F8FAFC"/>
          </a:solidFill>
          <a:ln w="12700">
            <a:solidFill>
              <a:srgbClr val="2563EB"/>
            </a:solidFill>
            <a:prstDash val="solid"/>
          </a:ln>
          <a:effectLst>
            <a:outerShdw sx="100000" sy="100000" kx="0" ky="0" algn="bl" rotWithShape="0" blurRad="38100" dist="25400" dir="2700000">
              <a:srgbClr val="AAAAAA">
                <a:alpha val="75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11480" y="4251960"/>
            <a:ext cx="502920" cy="502920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11480" y="42519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978408" y="425196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 Fingerprints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457200" y="4754880"/>
            <a:ext cx="352044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cluster: median price, price-tier mix, gender mix, top categories/classes/brands, 5 example titles → saved to llm/inputs/profile_fingerprints.json.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325112" y="4160520"/>
            <a:ext cx="3749040" cy="1920240"/>
          </a:xfrm>
          <a:prstGeom prst="rect">
            <a:avLst/>
          </a:prstGeom>
          <a:solidFill>
            <a:srgbClr val="F8FAFC"/>
          </a:solidFill>
          <a:ln w="12700">
            <a:solidFill>
              <a:srgbClr val="2563EB"/>
            </a:solidFill>
            <a:prstDash val="solid"/>
          </a:ln>
          <a:effectLst>
            <a:outerShdw sx="100000" sy="100000" kx="0" ky="0" algn="bl" rotWithShape="0" blurRad="38100" dist="25400" dir="2700000">
              <a:srgbClr val="AAAAAA">
                <a:alpha val="75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416552" y="4251960"/>
            <a:ext cx="502920" cy="502920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416552" y="42519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4983480" y="425196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Names the Profiles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4462272" y="4754880"/>
            <a:ext cx="352044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12 aggregated fingerprints — never raw records — are fed to an LLM once, offline. It returns 12 named personas saved to profiles/profiles.json.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274320"/>
            <a:ext cx="11521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12 Customer Profiles — Overview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20040" y="960120"/>
            <a:ext cx="1152144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040" y="1097280"/>
            <a:ext cx="2834640" cy="1737360"/>
          </a:xfrm>
          <a:prstGeom prst="rect">
            <a:avLst/>
          </a:prstGeom>
          <a:solidFill>
            <a:srgbClr val="F8FAFC"/>
          </a:solidFill>
          <a:ln w="12700">
            <a:solidFill>
              <a:srgbClr val="2563EB"/>
            </a:solidFill>
            <a:prstDash val="solid"/>
          </a:ln>
          <a:effectLst>
            <a:outerShdw sx="100000" sy="100000" kx="0" ky="0" algn="bl" rotWithShape="0" blurRad="38100" dist="25400" dir="2700000">
              <a:srgbClr val="AAAAAA">
                <a:alpha val="7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93192" y="1170432"/>
            <a:ext cx="384048" cy="38404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93192" y="1170432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822960" y="1170432"/>
            <a:ext cx="2286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Everyday Jewellery Shopper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11480" y="1591056"/>
            <a:ext cx="2697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Women  ·  </a:t>
            </a:r>
            <a:pPr indent="0" marL="0">
              <a:buNone/>
            </a:pPr>
            <a:r>
              <a:rPr lang="en-US" sz="10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  ($44)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11480" y="1847088"/>
            <a:ext cx="2697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Accessories / Jewelry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11480" y="2075688"/>
            <a:ext cx="2697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Levi's, Columbia, Ralph Lauren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411480" y="2514600"/>
            <a:ext cx="2697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Share: 12.5%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3310128" y="1097280"/>
            <a:ext cx="2834640" cy="1737360"/>
          </a:xfrm>
          <a:prstGeom prst="rect">
            <a:avLst/>
          </a:prstGeom>
          <a:solidFill>
            <a:srgbClr val="F8FAFC"/>
          </a:solidFill>
          <a:ln w="12700">
            <a:solidFill>
              <a:srgbClr val="EA580C"/>
            </a:solidFill>
            <a:prstDash val="solid"/>
          </a:ln>
          <a:effectLst>
            <a:outerShdw sx="100000" sy="100000" kx="0" ky="0" algn="bl" rotWithShape="0" blurRad="38100" dist="25400" dir="2700000">
              <a:srgbClr val="AAAAAA">
                <a:alpha val="7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383280" y="1170432"/>
            <a:ext cx="384048" cy="384048"/>
          </a:xfrm>
          <a:prstGeom prst="ellipse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383280" y="1170432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813048" y="1170432"/>
            <a:ext cx="2286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Premium Athlete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3401568" y="1591056"/>
            <a:ext cx="2697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Unisex  ·  </a:t>
            </a:r>
            <a:pPr indent="0" marL="0">
              <a:buNone/>
            </a:pPr>
            <a:r>
              <a:rPr lang="en-US" sz="1000" b="1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Premium  ($100)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3401568" y="1847088"/>
            <a:ext cx="2697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Footwear / Athletic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3401568" y="2075688"/>
            <a:ext cx="2697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Nike, Under Armour, Levi's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3401568" y="2514600"/>
            <a:ext cx="2697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Share: 7.5%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6300216" y="1097280"/>
            <a:ext cx="2834640" cy="1737360"/>
          </a:xfrm>
          <a:prstGeom prst="rect">
            <a:avLst/>
          </a:prstGeom>
          <a:solidFill>
            <a:srgbClr val="F8FAFC"/>
          </a:solidFill>
          <a:ln w="12700">
            <a:solidFill>
              <a:srgbClr val="EA580C"/>
            </a:solidFill>
            <a:prstDash val="solid"/>
          </a:ln>
          <a:effectLst>
            <a:outerShdw sx="100000" sy="100000" kx="0" ky="0" algn="bl" rotWithShape="0" blurRad="38100" dist="25400" dir="2700000">
              <a:srgbClr val="AAAAAA">
                <a:alpha val="75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373368" y="1170432"/>
            <a:ext cx="384048" cy="384048"/>
          </a:xfrm>
          <a:prstGeom prst="ellipse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373368" y="1170432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803136" y="1170432"/>
            <a:ext cx="2286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Luxury Accessories Woman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6391656" y="1591056"/>
            <a:ext cx="2697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Women  ·  </a:t>
            </a:r>
            <a:pPr indent="0" marL="0">
              <a:buNone/>
            </a:pPr>
            <a:r>
              <a:rPr lang="en-US" sz="1000" b="1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Premium  ($120)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6391656" y="1847088"/>
            <a:ext cx="2697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Accessories / Jewelry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6391656" y="2075688"/>
            <a:ext cx="2697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Ralph Lauren, Gucci, Adidas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6391656" y="2514600"/>
            <a:ext cx="2697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Share: 12.7%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9290304" y="1097280"/>
            <a:ext cx="2834640" cy="1737360"/>
          </a:xfrm>
          <a:prstGeom prst="rect">
            <a:avLst/>
          </a:prstGeom>
          <a:solidFill>
            <a:srgbClr val="F8FAFC"/>
          </a:solidFill>
          <a:ln w="12700">
            <a:solidFill>
              <a:srgbClr val="166534"/>
            </a:solidFill>
            <a:prstDash val="solid"/>
          </a:ln>
          <a:effectLst>
            <a:outerShdw sx="100000" sy="100000" kx="0" ky="0" algn="bl" rotWithShape="0" blurRad="38100" dist="25400" dir="2700000">
              <a:srgbClr val="AAAAAA">
                <a:alpha val="75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9363456" y="1170432"/>
            <a:ext cx="384048" cy="384048"/>
          </a:xfrm>
          <a:prstGeom prst="ellipse">
            <a:avLst/>
          </a:prstGeom>
          <a:solidFill>
            <a:srgbClr val="166534"/>
          </a:solidFill>
          <a:ln w="12700">
            <a:solidFill>
              <a:srgbClr val="166534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9363456" y="1170432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9793224" y="1170432"/>
            <a:ext cx="2286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Budget Men's Essentials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9381744" y="1591056"/>
            <a:ext cx="2697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 (88%)  ·  </a:t>
            </a:r>
            <a:pPr indent="0" marL="0">
              <a:buNone/>
            </a:pPr>
            <a:r>
              <a:rPr lang="en-US" sz="1000" b="1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  ($16)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9381744" y="1847088"/>
            <a:ext cx="2697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Accessories / Jewelry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9381744" y="2075688"/>
            <a:ext cx="2697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Columbia, Gucci, Calvin Klein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9381744" y="2514600"/>
            <a:ext cx="2697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Share: 8.0%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320040" y="2971800"/>
            <a:ext cx="2834640" cy="1737360"/>
          </a:xfrm>
          <a:prstGeom prst="rect">
            <a:avLst/>
          </a:prstGeom>
          <a:solidFill>
            <a:srgbClr val="F8FAFC"/>
          </a:solidFill>
          <a:ln w="12700">
            <a:solidFill>
              <a:srgbClr val="2563EB"/>
            </a:solidFill>
            <a:prstDash val="solid"/>
          </a:ln>
          <a:effectLst>
            <a:outerShdw sx="100000" sy="100000" kx="0" ky="0" algn="bl" rotWithShape="0" blurRad="38100" dist="25400" dir="2700000">
              <a:srgbClr val="AAAAAA">
                <a:alpha val="75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393192" y="3044952"/>
            <a:ext cx="384048" cy="38404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93192" y="3044952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822960" y="3044952"/>
            <a:ext cx="2286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Active Polo Guy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411480" y="3465576"/>
            <a:ext cx="2697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  ·  </a:t>
            </a:r>
            <a:pPr indent="0" marL="0">
              <a:buNone/>
            </a:pPr>
            <a:r>
              <a:rPr lang="en-US" sz="10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  ($46)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411480" y="3721608"/>
            <a:ext cx="2697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Upper Body / Polos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411480" y="3950208"/>
            <a:ext cx="2697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Nike, Patagonia, Old Navy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411480" y="4389120"/>
            <a:ext cx="2697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Share: 9.7%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3310128" y="2971800"/>
            <a:ext cx="2834640" cy="1737360"/>
          </a:xfrm>
          <a:prstGeom prst="rect">
            <a:avLst/>
          </a:prstGeom>
          <a:solidFill>
            <a:srgbClr val="F8FAFC"/>
          </a:solidFill>
          <a:ln w="12700">
            <a:solidFill>
              <a:srgbClr val="2563EB"/>
            </a:solidFill>
            <a:prstDash val="solid"/>
          </a:ln>
          <a:effectLst>
            <a:outerShdw sx="100000" sy="100000" kx="0" ky="0" algn="bl" rotWithShape="0" blurRad="38100" dist="25400" dir="2700000">
              <a:srgbClr val="AAAAAA">
                <a:alpha val="75000"/>
              </a:srgbClr>
            </a:outerShdw>
          </a:effectLst>
        </p:spPr>
      </p:sp>
      <p:sp>
        <p:nvSpPr>
          <p:cNvPr id="46" name="Shape 44"/>
          <p:cNvSpPr/>
          <p:nvPr/>
        </p:nvSpPr>
        <p:spPr>
          <a:xfrm>
            <a:off x="3383280" y="3044952"/>
            <a:ext cx="384048" cy="38404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3383280" y="3044952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48" name="Text 46"/>
          <p:cNvSpPr/>
          <p:nvPr/>
        </p:nvSpPr>
        <p:spPr>
          <a:xfrm>
            <a:off x="3813048" y="3044952"/>
            <a:ext cx="2286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Fitness-Forward Woman</a:t>
            </a:r>
            <a:endParaRPr lang="en-US" sz="1000" dirty="0"/>
          </a:p>
        </p:txBody>
      </p:sp>
      <p:sp>
        <p:nvSpPr>
          <p:cNvPr id="49" name="Text 47"/>
          <p:cNvSpPr/>
          <p:nvPr/>
        </p:nvSpPr>
        <p:spPr>
          <a:xfrm>
            <a:off x="3401568" y="3465576"/>
            <a:ext cx="2697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Women  ·  </a:t>
            </a:r>
            <a:pPr indent="0" marL="0">
              <a:buNone/>
            </a:pPr>
            <a:r>
              <a:rPr lang="en-US" sz="10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  ($40)</a:t>
            </a:r>
            <a:endParaRPr lang="en-US" sz="1000" dirty="0"/>
          </a:p>
        </p:txBody>
      </p:sp>
      <p:sp>
        <p:nvSpPr>
          <p:cNvPr id="50" name="Text 48"/>
          <p:cNvSpPr/>
          <p:nvPr/>
        </p:nvSpPr>
        <p:spPr>
          <a:xfrm>
            <a:off x="3401568" y="3721608"/>
            <a:ext cx="2697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Lower Body / Leggings</a:t>
            </a:r>
            <a:endParaRPr lang="en-US" sz="1000" dirty="0"/>
          </a:p>
        </p:txBody>
      </p:sp>
      <p:sp>
        <p:nvSpPr>
          <p:cNvPr id="51" name="Text 49"/>
          <p:cNvSpPr/>
          <p:nvPr/>
        </p:nvSpPr>
        <p:spPr>
          <a:xfrm>
            <a:off x="3401568" y="3950208"/>
            <a:ext cx="2697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 Armour, Ralph Lauren, Columbia</a:t>
            </a:r>
            <a:endParaRPr lang="en-US" sz="900" dirty="0"/>
          </a:p>
        </p:txBody>
      </p:sp>
      <p:sp>
        <p:nvSpPr>
          <p:cNvPr id="52" name="Text 50"/>
          <p:cNvSpPr/>
          <p:nvPr/>
        </p:nvSpPr>
        <p:spPr>
          <a:xfrm>
            <a:off x="3401568" y="4389120"/>
            <a:ext cx="2697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Share: 9.9%</a:t>
            </a:r>
            <a:endParaRPr lang="en-US" sz="900" dirty="0"/>
          </a:p>
        </p:txBody>
      </p:sp>
      <p:sp>
        <p:nvSpPr>
          <p:cNvPr id="53" name="Shape 51"/>
          <p:cNvSpPr/>
          <p:nvPr/>
        </p:nvSpPr>
        <p:spPr>
          <a:xfrm>
            <a:off x="6300216" y="2971800"/>
            <a:ext cx="2834640" cy="1737360"/>
          </a:xfrm>
          <a:prstGeom prst="rect">
            <a:avLst/>
          </a:prstGeom>
          <a:solidFill>
            <a:srgbClr val="F8FAFC"/>
          </a:solidFill>
          <a:ln w="12700">
            <a:solidFill>
              <a:srgbClr val="2563EB"/>
            </a:solidFill>
            <a:prstDash val="solid"/>
          </a:ln>
          <a:effectLst>
            <a:outerShdw sx="100000" sy="100000" kx="0" ky="0" algn="bl" rotWithShape="0" blurRad="38100" dist="25400" dir="2700000">
              <a:srgbClr val="AAAAAA">
                <a:alpha val="75000"/>
              </a:srgbClr>
            </a:outerShdw>
          </a:effectLst>
        </p:spPr>
      </p:sp>
      <p:sp>
        <p:nvSpPr>
          <p:cNvPr id="54" name="Shape 52"/>
          <p:cNvSpPr/>
          <p:nvPr/>
        </p:nvSpPr>
        <p:spPr>
          <a:xfrm>
            <a:off x="6373368" y="3044952"/>
            <a:ext cx="384048" cy="38404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6373368" y="3044952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100" dirty="0"/>
          </a:p>
        </p:txBody>
      </p:sp>
      <p:sp>
        <p:nvSpPr>
          <p:cNvPr id="56" name="Text 54"/>
          <p:cNvSpPr/>
          <p:nvPr/>
        </p:nvSpPr>
        <p:spPr>
          <a:xfrm>
            <a:off x="6803136" y="3044952"/>
            <a:ext cx="2286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Everyday Denim Dad</a:t>
            </a:r>
            <a:endParaRPr lang="en-US" sz="1000" dirty="0"/>
          </a:p>
        </p:txBody>
      </p:sp>
      <p:sp>
        <p:nvSpPr>
          <p:cNvPr id="57" name="Text 55"/>
          <p:cNvSpPr/>
          <p:nvPr/>
        </p:nvSpPr>
        <p:spPr>
          <a:xfrm>
            <a:off x="6391656" y="3465576"/>
            <a:ext cx="2697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  ·  </a:t>
            </a:r>
            <a:pPr indent="0" marL="0">
              <a:buNone/>
            </a:pPr>
            <a:r>
              <a:rPr lang="en-US" sz="10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  ($39)</a:t>
            </a:r>
            <a:endParaRPr lang="en-US" sz="1000" dirty="0"/>
          </a:p>
        </p:txBody>
      </p:sp>
      <p:sp>
        <p:nvSpPr>
          <p:cNvPr id="58" name="Text 56"/>
          <p:cNvSpPr/>
          <p:nvPr/>
        </p:nvSpPr>
        <p:spPr>
          <a:xfrm>
            <a:off x="6391656" y="3721608"/>
            <a:ext cx="2697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Accessories / Denim</a:t>
            </a:r>
            <a:endParaRPr lang="en-US" sz="1000" dirty="0"/>
          </a:p>
        </p:txBody>
      </p:sp>
      <p:sp>
        <p:nvSpPr>
          <p:cNvPr id="59" name="Text 57"/>
          <p:cNvSpPr/>
          <p:nvPr/>
        </p:nvSpPr>
        <p:spPr>
          <a:xfrm>
            <a:off x="6391656" y="3950208"/>
            <a:ext cx="2697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Old Navy, Levi's, Under Armour</a:t>
            </a:r>
            <a:endParaRPr lang="en-US" sz="900" dirty="0"/>
          </a:p>
        </p:txBody>
      </p:sp>
      <p:sp>
        <p:nvSpPr>
          <p:cNvPr id="60" name="Text 58"/>
          <p:cNvSpPr/>
          <p:nvPr/>
        </p:nvSpPr>
        <p:spPr>
          <a:xfrm>
            <a:off x="6391656" y="4389120"/>
            <a:ext cx="2697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Share: 14.3%</a:t>
            </a:r>
            <a:endParaRPr lang="en-US" sz="900" dirty="0"/>
          </a:p>
        </p:txBody>
      </p:sp>
      <p:sp>
        <p:nvSpPr>
          <p:cNvPr id="61" name="Shape 59"/>
          <p:cNvSpPr/>
          <p:nvPr/>
        </p:nvSpPr>
        <p:spPr>
          <a:xfrm>
            <a:off x="9290304" y="2971800"/>
            <a:ext cx="2834640" cy="1737360"/>
          </a:xfrm>
          <a:prstGeom prst="rect">
            <a:avLst/>
          </a:prstGeom>
          <a:solidFill>
            <a:srgbClr val="F8FAFC"/>
          </a:solidFill>
          <a:ln w="12700">
            <a:solidFill>
              <a:srgbClr val="EA580C"/>
            </a:solidFill>
            <a:prstDash val="solid"/>
          </a:ln>
          <a:effectLst>
            <a:outerShdw sx="100000" sy="100000" kx="0" ky="0" algn="bl" rotWithShape="0" blurRad="38100" dist="25400" dir="2700000">
              <a:srgbClr val="AAAAAA">
                <a:alpha val="75000"/>
              </a:srgbClr>
            </a:outerShdw>
          </a:effectLst>
        </p:spPr>
      </p:sp>
      <p:sp>
        <p:nvSpPr>
          <p:cNvPr id="62" name="Shape 60"/>
          <p:cNvSpPr/>
          <p:nvPr/>
        </p:nvSpPr>
        <p:spPr>
          <a:xfrm>
            <a:off x="9363456" y="3044952"/>
            <a:ext cx="384048" cy="384048"/>
          </a:xfrm>
          <a:prstGeom prst="ellipse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9363456" y="3044952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100" dirty="0"/>
          </a:p>
        </p:txBody>
      </p:sp>
      <p:sp>
        <p:nvSpPr>
          <p:cNvPr id="64" name="Text 62"/>
          <p:cNvSpPr/>
          <p:nvPr/>
        </p:nvSpPr>
        <p:spPr>
          <a:xfrm>
            <a:off x="9793224" y="3044952"/>
            <a:ext cx="2286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Elite Accessories Collector</a:t>
            </a:r>
            <a:endParaRPr lang="en-US" sz="1000" dirty="0"/>
          </a:p>
        </p:txBody>
      </p:sp>
      <p:sp>
        <p:nvSpPr>
          <p:cNvPr id="65" name="Text 63"/>
          <p:cNvSpPr/>
          <p:nvPr/>
        </p:nvSpPr>
        <p:spPr>
          <a:xfrm>
            <a:off x="9381744" y="3465576"/>
            <a:ext cx="2697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Women  ·  </a:t>
            </a:r>
            <a:pPr indent="0" marL="0">
              <a:buNone/>
            </a:pPr>
            <a:r>
              <a:rPr lang="en-US" sz="1000" b="1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Premium  ($152)</a:t>
            </a:r>
            <a:endParaRPr lang="en-US" sz="1000" dirty="0"/>
          </a:p>
        </p:txBody>
      </p:sp>
      <p:sp>
        <p:nvSpPr>
          <p:cNvPr id="66" name="Text 64"/>
          <p:cNvSpPr/>
          <p:nvPr/>
        </p:nvSpPr>
        <p:spPr>
          <a:xfrm>
            <a:off x="9381744" y="3721608"/>
            <a:ext cx="2697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Accessories / Jewelry</a:t>
            </a:r>
            <a:endParaRPr lang="en-US" sz="1000" dirty="0"/>
          </a:p>
        </p:txBody>
      </p:sp>
      <p:sp>
        <p:nvSpPr>
          <p:cNvPr id="67" name="Text 65"/>
          <p:cNvSpPr/>
          <p:nvPr/>
        </p:nvSpPr>
        <p:spPr>
          <a:xfrm>
            <a:off x="9381744" y="3950208"/>
            <a:ext cx="2697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Hanes, Calvin Klein</a:t>
            </a:r>
            <a:endParaRPr lang="en-US" sz="900" dirty="0"/>
          </a:p>
        </p:txBody>
      </p:sp>
      <p:sp>
        <p:nvSpPr>
          <p:cNvPr id="68" name="Text 66"/>
          <p:cNvSpPr/>
          <p:nvPr/>
        </p:nvSpPr>
        <p:spPr>
          <a:xfrm>
            <a:off x="9381744" y="4389120"/>
            <a:ext cx="2697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Share: 3.3%</a:t>
            </a:r>
            <a:endParaRPr lang="en-US" sz="900" dirty="0"/>
          </a:p>
        </p:txBody>
      </p:sp>
      <p:sp>
        <p:nvSpPr>
          <p:cNvPr id="69" name="Shape 67"/>
          <p:cNvSpPr/>
          <p:nvPr/>
        </p:nvSpPr>
        <p:spPr>
          <a:xfrm>
            <a:off x="320040" y="4846320"/>
            <a:ext cx="2834640" cy="1737360"/>
          </a:xfrm>
          <a:prstGeom prst="rect">
            <a:avLst/>
          </a:prstGeom>
          <a:solidFill>
            <a:srgbClr val="F8FAFC"/>
          </a:solidFill>
          <a:ln w="12700">
            <a:solidFill>
              <a:srgbClr val="2563EB"/>
            </a:solidFill>
            <a:prstDash val="solid"/>
          </a:ln>
          <a:effectLst>
            <a:outerShdw sx="100000" sy="100000" kx="0" ky="0" algn="bl" rotWithShape="0" blurRad="38100" dist="25400" dir="2700000">
              <a:srgbClr val="AAAAAA">
                <a:alpha val="75000"/>
              </a:srgbClr>
            </a:outerShdw>
          </a:effectLst>
        </p:spPr>
      </p:sp>
      <p:sp>
        <p:nvSpPr>
          <p:cNvPr id="70" name="Shape 68"/>
          <p:cNvSpPr/>
          <p:nvPr/>
        </p:nvSpPr>
        <p:spPr>
          <a:xfrm>
            <a:off x="393192" y="4919472"/>
            <a:ext cx="384048" cy="38404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393192" y="4919472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100" dirty="0"/>
          </a:p>
        </p:txBody>
      </p:sp>
      <p:sp>
        <p:nvSpPr>
          <p:cNvPr id="72" name="Text 70"/>
          <p:cNvSpPr/>
          <p:nvPr/>
        </p:nvSpPr>
        <p:spPr>
          <a:xfrm>
            <a:off x="822960" y="4919472"/>
            <a:ext cx="2286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Mid-Range Sneaker Fan</a:t>
            </a:r>
            <a:endParaRPr lang="en-US" sz="1000" dirty="0"/>
          </a:p>
        </p:txBody>
      </p:sp>
      <p:sp>
        <p:nvSpPr>
          <p:cNvPr id="73" name="Text 71"/>
          <p:cNvSpPr/>
          <p:nvPr/>
        </p:nvSpPr>
        <p:spPr>
          <a:xfrm>
            <a:off x="411480" y="5340096"/>
            <a:ext cx="2697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Unisex  ·  </a:t>
            </a:r>
            <a:pPr indent="0" marL="0">
              <a:buNone/>
            </a:pPr>
            <a:r>
              <a:rPr lang="en-US" sz="10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  ($66)</a:t>
            </a:r>
            <a:endParaRPr lang="en-US" sz="1000" dirty="0"/>
          </a:p>
        </p:txBody>
      </p:sp>
      <p:sp>
        <p:nvSpPr>
          <p:cNvPr id="74" name="Text 72"/>
          <p:cNvSpPr/>
          <p:nvPr/>
        </p:nvSpPr>
        <p:spPr>
          <a:xfrm>
            <a:off x="411480" y="5596128"/>
            <a:ext cx="2697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Footwear / Athletic</a:t>
            </a:r>
            <a:endParaRPr lang="en-US" sz="1000" dirty="0"/>
          </a:p>
        </p:txBody>
      </p:sp>
      <p:sp>
        <p:nvSpPr>
          <p:cNvPr id="75" name="Text 73"/>
          <p:cNvSpPr/>
          <p:nvPr/>
        </p:nvSpPr>
        <p:spPr>
          <a:xfrm>
            <a:off x="411480" y="5824728"/>
            <a:ext cx="2697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Allen Schwartz, Levi's, Adidas</a:t>
            </a:r>
            <a:endParaRPr lang="en-US" sz="900" dirty="0"/>
          </a:p>
        </p:txBody>
      </p:sp>
      <p:sp>
        <p:nvSpPr>
          <p:cNvPr id="76" name="Text 74"/>
          <p:cNvSpPr/>
          <p:nvPr/>
        </p:nvSpPr>
        <p:spPr>
          <a:xfrm>
            <a:off x="411480" y="6263640"/>
            <a:ext cx="2697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Share: 2.8%</a:t>
            </a:r>
            <a:endParaRPr lang="en-US" sz="900" dirty="0"/>
          </a:p>
        </p:txBody>
      </p:sp>
      <p:sp>
        <p:nvSpPr>
          <p:cNvPr id="77" name="Shape 75"/>
          <p:cNvSpPr/>
          <p:nvPr/>
        </p:nvSpPr>
        <p:spPr>
          <a:xfrm>
            <a:off x="3310128" y="4846320"/>
            <a:ext cx="2834640" cy="1737360"/>
          </a:xfrm>
          <a:prstGeom prst="rect">
            <a:avLst/>
          </a:prstGeom>
          <a:solidFill>
            <a:srgbClr val="F8FAFC"/>
          </a:solidFill>
          <a:ln w="12700">
            <a:solidFill>
              <a:srgbClr val="2563EB"/>
            </a:solidFill>
            <a:prstDash val="solid"/>
          </a:ln>
          <a:effectLst>
            <a:outerShdw sx="100000" sy="100000" kx="0" ky="0" algn="bl" rotWithShape="0" blurRad="38100" dist="25400" dir="2700000">
              <a:srgbClr val="AAAAAA">
                <a:alpha val="75000"/>
              </a:srgbClr>
            </a:outerShdw>
          </a:effectLst>
        </p:spPr>
      </p:sp>
      <p:sp>
        <p:nvSpPr>
          <p:cNvPr id="78" name="Shape 76"/>
          <p:cNvSpPr/>
          <p:nvPr/>
        </p:nvSpPr>
        <p:spPr>
          <a:xfrm>
            <a:off x="3383280" y="4919472"/>
            <a:ext cx="384048" cy="38404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3383280" y="4919472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100" dirty="0"/>
          </a:p>
        </p:txBody>
      </p:sp>
      <p:sp>
        <p:nvSpPr>
          <p:cNvPr id="80" name="Text 78"/>
          <p:cNvSpPr/>
          <p:nvPr/>
        </p:nvSpPr>
        <p:spPr>
          <a:xfrm>
            <a:off x="3813048" y="4919472"/>
            <a:ext cx="2286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Classic Knitwear Shopper</a:t>
            </a:r>
            <a:endParaRPr lang="en-US" sz="1000" dirty="0"/>
          </a:p>
        </p:txBody>
      </p:sp>
      <p:sp>
        <p:nvSpPr>
          <p:cNvPr id="81" name="Text 79"/>
          <p:cNvSpPr/>
          <p:nvPr/>
        </p:nvSpPr>
        <p:spPr>
          <a:xfrm>
            <a:off x="3401568" y="5340096"/>
            <a:ext cx="2697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Mixed (55/45)  ·  </a:t>
            </a:r>
            <a:pPr indent="0" marL="0">
              <a:buNone/>
            </a:pPr>
            <a:r>
              <a:rPr lang="en-US" sz="10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  ($41)</a:t>
            </a:r>
            <a:endParaRPr lang="en-US" sz="1000" dirty="0"/>
          </a:p>
        </p:txBody>
      </p:sp>
      <p:sp>
        <p:nvSpPr>
          <p:cNvPr id="82" name="Text 80"/>
          <p:cNvSpPr/>
          <p:nvPr/>
        </p:nvSpPr>
        <p:spPr>
          <a:xfrm>
            <a:off x="3401568" y="5596128"/>
            <a:ext cx="2697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Accessories / Jewelry</a:t>
            </a:r>
            <a:endParaRPr lang="en-US" sz="1000" dirty="0"/>
          </a:p>
        </p:txBody>
      </p:sp>
      <p:sp>
        <p:nvSpPr>
          <p:cNvPr id="83" name="Text 81"/>
          <p:cNvSpPr/>
          <p:nvPr/>
        </p:nvSpPr>
        <p:spPr>
          <a:xfrm>
            <a:off x="3401568" y="5824728"/>
            <a:ext cx="2697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Calvin Klein, Hanes</a:t>
            </a:r>
            <a:endParaRPr lang="en-US" sz="900" dirty="0"/>
          </a:p>
        </p:txBody>
      </p:sp>
      <p:sp>
        <p:nvSpPr>
          <p:cNvPr id="84" name="Text 82"/>
          <p:cNvSpPr/>
          <p:nvPr/>
        </p:nvSpPr>
        <p:spPr>
          <a:xfrm>
            <a:off x="3401568" y="6263640"/>
            <a:ext cx="2697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Share: 4.1%</a:t>
            </a:r>
            <a:endParaRPr lang="en-US" sz="900" dirty="0"/>
          </a:p>
        </p:txBody>
      </p:sp>
      <p:sp>
        <p:nvSpPr>
          <p:cNvPr id="85" name="Shape 83"/>
          <p:cNvSpPr/>
          <p:nvPr/>
        </p:nvSpPr>
        <p:spPr>
          <a:xfrm>
            <a:off x="6300216" y="4846320"/>
            <a:ext cx="2834640" cy="1737360"/>
          </a:xfrm>
          <a:prstGeom prst="rect">
            <a:avLst/>
          </a:prstGeom>
          <a:solidFill>
            <a:srgbClr val="F8FAFC"/>
          </a:solidFill>
          <a:ln w="12700">
            <a:solidFill>
              <a:srgbClr val="EA580C"/>
            </a:solidFill>
            <a:prstDash val="solid"/>
          </a:ln>
          <a:effectLst>
            <a:outerShdw sx="100000" sy="100000" kx="0" ky="0" algn="bl" rotWithShape="0" blurRad="38100" dist="25400" dir="2700000">
              <a:srgbClr val="AAAAAA">
                <a:alpha val="75000"/>
              </a:srgbClr>
            </a:outerShdw>
          </a:effectLst>
        </p:spPr>
      </p:sp>
      <p:sp>
        <p:nvSpPr>
          <p:cNvPr id="86" name="Shape 84"/>
          <p:cNvSpPr/>
          <p:nvPr/>
        </p:nvSpPr>
        <p:spPr>
          <a:xfrm>
            <a:off x="6373368" y="4919472"/>
            <a:ext cx="384048" cy="384048"/>
          </a:xfrm>
          <a:prstGeom prst="ellipse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87" name="Text 85"/>
          <p:cNvSpPr/>
          <p:nvPr/>
        </p:nvSpPr>
        <p:spPr>
          <a:xfrm>
            <a:off x="6373368" y="4919472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100" dirty="0"/>
          </a:p>
        </p:txBody>
      </p:sp>
      <p:sp>
        <p:nvSpPr>
          <p:cNvPr id="88" name="Text 86"/>
          <p:cNvSpPr/>
          <p:nvPr/>
        </p:nvSpPr>
        <p:spPr>
          <a:xfrm>
            <a:off x="6803136" y="4919472"/>
            <a:ext cx="2286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Outerwear Enthusiast</a:t>
            </a:r>
            <a:endParaRPr lang="en-US" sz="1000" dirty="0"/>
          </a:p>
        </p:txBody>
      </p:sp>
      <p:sp>
        <p:nvSpPr>
          <p:cNvPr id="89" name="Text 87"/>
          <p:cNvSpPr/>
          <p:nvPr/>
        </p:nvSpPr>
        <p:spPr>
          <a:xfrm>
            <a:off x="6391656" y="5340096"/>
            <a:ext cx="2697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Women  ·  </a:t>
            </a:r>
            <a:pPr indent="0" marL="0">
              <a:buNone/>
            </a:pPr>
            <a:r>
              <a:rPr lang="en-US" sz="1000" b="1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Premium  ($214)</a:t>
            </a:r>
            <a:endParaRPr lang="en-US" sz="1000" dirty="0"/>
          </a:p>
        </p:txBody>
      </p:sp>
      <p:sp>
        <p:nvSpPr>
          <p:cNvPr id="90" name="Text 88"/>
          <p:cNvSpPr/>
          <p:nvPr/>
        </p:nvSpPr>
        <p:spPr>
          <a:xfrm>
            <a:off x="6391656" y="5596128"/>
            <a:ext cx="2697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Accessories / Outerwear</a:t>
            </a:r>
            <a:endParaRPr lang="en-US" sz="1000" dirty="0"/>
          </a:p>
        </p:txBody>
      </p:sp>
      <p:sp>
        <p:nvSpPr>
          <p:cNvPr id="91" name="Text 89"/>
          <p:cNvSpPr/>
          <p:nvPr/>
        </p:nvSpPr>
        <p:spPr>
          <a:xfrm>
            <a:off x="6391656" y="5824728"/>
            <a:ext cx="2697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Patagonia, Columbia, Gucci</a:t>
            </a:r>
            <a:endParaRPr lang="en-US" sz="900" dirty="0"/>
          </a:p>
        </p:txBody>
      </p:sp>
      <p:sp>
        <p:nvSpPr>
          <p:cNvPr id="92" name="Text 90"/>
          <p:cNvSpPr/>
          <p:nvPr/>
        </p:nvSpPr>
        <p:spPr>
          <a:xfrm>
            <a:off x="6391656" y="6263640"/>
            <a:ext cx="2697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Share: 8.6%</a:t>
            </a:r>
            <a:endParaRPr lang="en-US" sz="900" dirty="0"/>
          </a:p>
        </p:txBody>
      </p:sp>
      <p:sp>
        <p:nvSpPr>
          <p:cNvPr id="93" name="Shape 91"/>
          <p:cNvSpPr/>
          <p:nvPr/>
        </p:nvSpPr>
        <p:spPr>
          <a:xfrm>
            <a:off x="9290304" y="4846320"/>
            <a:ext cx="2834640" cy="1737360"/>
          </a:xfrm>
          <a:prstGeom prst="rect">
            <a:avLst/>
          </a:prstGeom>
          <a:solidFill>
            <a:srgbClr val="F8FAFC"/>
          </a:solidFill>
          <a:ln w="12700">
            <a:solidFill>
              <a:srgbClr val="166534"/>
            </a:solidFill>
            <a:prstDash val="solid"/>
          </a:ln>
          <a:effectLst>
            <a:outerShdw sx="100000" sy="100000" kx="0" ky="0" algn="bl" rotWithShape="0" blurRad="38100" dist="25400" dir="2700000">
              <a:srgbClr val="AAAAAA">
                <a:alpha val="75000"/>
              </a:srgbClr>
            </a:outerShdw>
          </a:effectLst>
        </p:spPr>
      </p:sp>
      <p:sp>
        <p:nvSpPr>
          <p:cNvPr id="94" name="Shape 92"/>
          <p:cNvSpPr/>
          <p:nvPr/>
        </p:nvSpPr>
        <p:spPr>
          <a:xfrm>
            <a:off x="9363456" y="4919472"/>
            <a:ext cx="384048" cy="384048"/>
          </a:xfrm>
          <a:prstGeom prst="ellipse">
            <a:avLst/>
          </a:prstGeom>
          <a:solidFill>
            <a:srgbClr val="166534"/>
          </a:solidFill>
          <a:ln w="12700">
            <a:solidFill>
              <a:srgbClr val="166534"/>
            </a:solidFill>
            <a:prstDash val="solid"/>
          </a:ln>
        </p:spPr>
      </p:sp>
      <p:sp>
        <p:nvSpPr>
          <p:cNvPr id="95" name="Text 93"/>
          <p:cNvSpPr/>
          <p:nvPr/>
        </p:nvSpPr>
        <p:spPr>
          <a:xfrm>
            <a:off x="9363456" y="4919472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100" dirty="0"/>
          </a:p>
        </p:txBody>
      </p:sp>
      <p:sp>
        <p:nvSpPr>
          <p:cNvPr id="96" name="Text 94"/>
          <p:cNvSpPr/>
          <p:nvPr/>
        </p:nvSpPr>
        <p:spPr>
          <a:xfrm>
            <a:off x="9793224" y="4919472"/>
            <a:ext cx="2286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Value-Seeker Male</a:t>
            </a:r>
            <a:endParaRPr lang="en-US" sz="1000" dirty="0"/>
          </a:p>
        </p:txBody>
      </p:sp>
      <p:sp>
        <p:nvSpPr>
          <p:cNvPr id="97" name="Text 95"/>
          <p:cNvSpPr/>
          <p:nvPr/>
        </p:nvSpPr>
        <p:spPr>
          <a:xfrm>
            <a:off x="9381744" y="5340096"/>
            <a:ext cx="2697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 (89%)  ·  </a:t>
            </a:r>
            <a:pPr indent="0" marL="0">
              <a:buNone/>
            </a:pPr>
            <a:r>
              <a:rPr lang="en-US" sz="1000" b="1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  ($17)</a:t>
            </a:r>
            <a:endParaRPr lang="en-US" sz="1000" dirty="0"/>
          </a:p>
        </p:txBody>
      </p:sp>
      <p:sp>
        <p:nvSpPr>
          <p:cNvPr id="98" name="Text 96"/>
          <p:cNvSpPr/>
          <p:nvPr/>
        </p:nvSpPr>
        <p:spPr>
          <a:xfrm>
            <a:off x="9381744" y="5596128"/>
            <a:ext cx="2697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Accessories / Basics</a:t>
            </a:r>
            <a:endParaRPr lang="en-US" sz="1000" dirty="0"/>
          </a:p>
        </p:txBody>
      </p:sp>
      <p:sp>
        <p:nvSpPr>
          <p:cNvPr id="99" name="Text 97"/>
          <p:cNvSpPr/>
          <p:nvPr/>
        </p:nvSpPr>
        <p:spPr>
          <a:xfrm>
            <a:off x="9381744" y="5824728"/>
            <a:ext cx="2697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Old Navy, Levi's, Nike</a:t>
            </a:r>
            <a:endParaRPr lang="en-US" sz="900" dirty="0"/>
          </a:p>
        </p:txBody>
      </p:sp>
      <p:sp>
        <p:nvSpPr>
          <p:cNvPr id="100" name="Text 98"/>
          <p:cNvSpPr/>
          <p:nvPr/>
        </p:nvSpPr>
        <p:spPr>
          <a:xfrm>
            <a:off x="9381744" y="6263640"/>
            <a:ext cx="2697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Share: 6.6%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274320"/>
            <a:ext cx="11521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Profile Deep-Dives — Three Examples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20040" y="960120"/>
            <a:ext cx="1152144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040" y="1097280"/>
            <a:ext cx="3749040" cy="5394960"/>
          </a:xfrm>
          <a:prstGeom prst="rect">
            <a:avLst/>
          </a:prstGeom>
          <a:solidFill>
            <a:srgbClr val="F8FAFC"/>
          </a:solidFill>
          <a:ln w="12700">
            <a:solidFill>
              <a:srgbClr val="EA580C"/>
            </a:solidFill>
            <a:prstDash val="solid"/>
          </a:ln>
          <a:effectLst>
            <a:outerShdw sx="100000" sy="100000" kx="0" ky="0" algn="bl" rotWithShape="0" blurRad="38100" dist="25400" dir="2700000">
              <a:srgbClr val="AAAAAA">
                <a:alpha val="7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097280"/>
            <a:ext cx="3749040" cy="640080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11480" y="1161288"/>
            <a:ext cx="512064" cy="51206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1480" y="1161288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978408" y="1161288"/>
            <a:ext cx="301752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Outerwear Enthusiast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11480" y="1847088"/>
            <a:ext cx="100584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Gender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417320" y="1847088"/>
            <a:ext cx="260604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Women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11480" y="2414016"/>
            <a:ext cx="100584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Income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417320" y="2414016"/>
            <a:ext cx="260604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~$90k–$130k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11480" y="2980944"/>
            <a:ext cx="100584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 Tier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417320" y="2980944"/>
            <a:ext cx="260604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Premium  ($214 median)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11480" y="3547872"/>
            <a:ext cx="100584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Style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417320" y="3547872"/>
            <a:ext cx="260604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Invests in high-quality outerwear and accessories. Gravitates toward Patagonia and Columbia for functional elegance, with Gucci for statement pieces.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11480" y="4114800"/>
            <a:ext cx="100584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Categories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417320" y="4114800"/>
            <a:ext cx="260604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Accessories, Outerwear, Insulated Coats, Leather Bags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11480" y="4681728"/>
            <a:ext cx="100584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They Shop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417320" y="4681728"/>
            <a:ext cx="260604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Seasonal trigger-driven. Shops ahead of winter; responds strongly to outerwear bundles. Low fatigue — high-value purchases are deliberate.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11480" y="5248656"/>
            <a:ext cx="100584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Catalogue Share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417320" y="5248656"/>
            <a:ext cx="260604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8.6% of catalogue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11480" y="5815584"/>
            <a:ext cx="100584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Items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417320" y="5815584"/>
            <a:ext cx="260604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Columbia Winter Down Parka, Gucci Crossbody Bag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297680" y="1097280"/>
            <a:ext cx="3749040" cy="5394960"/>
          </a:xfrm>
          <a:prstGeom prst="rect">
            <a:avLst/>
          </a:prstGeom>
          <a:solidFill>
            <a:srgbClr val="F8FAFC"/>
          </a:solidFill>
          <a:ln w="12700">
            <a:solidFill>
              <a:srgbClr val="2563EB"/>
            </a:solidFill>
            <a:prstDash val="solid"/>
          </a:ln>
          <a:effectLst>
            <a:outerShdw sx="100000" sy="100000" kx="0" ky="0" algn="bl" rotWithShape="0" blurRad="38100" dist="25400" dir="2700000">
              <a:srgbClr val="AAAAAA">
                <a:alpha val="75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297680" y="1097280"/>
            <a:ext cx="3749040" cy="64008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389120" y="1161288"/>
            <a:ext cx="512064" cy="51206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389120" y="1161288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4956048" y="1161288"/>
            <a:ext cx="301752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Fitness-Forward Woman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4389120" y="1847088"/>
            <a:ext cx="100584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Gender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5394960" y="1847088"/>
            <a:ext cx="260604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Women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4389120" y="2414016"/>
            <a:ext cx="100584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Income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5394960" y="2414016"/>
            <a:ext cx="260604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~$55k–$80k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4389120" y="2980944"/>
            <a:ext cx="100584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 Tier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5394960" y="2980944"/>
            <a:ext cx="260604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  ($40 median)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4389120" y="3547872"/>
            <a:ext cx="100584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Style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5394960" y="3547872"/>
            <a:ext cx="260604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lifestyle shopper. All-leggings, all-the-time. Loyal to performance brands; mixes Under Armour for gym with Ralph Lauren for weekend.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4389120" y="4114800"/>
            <a:ext cx="100584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Categories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5394960" y="4114800"/>
            <a:ext cx="260604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Lower Body / Leggings, Upper Body / Active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4389120" y="4681728"/>
            <a:ext cx="100584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They Shop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5394960" y="4681728"/>
            <a:ext cx="260604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cadence, brand-loyal. Responds to bundle offers (leggings + top). January (New Year) and August (back-to-school fitness) are peak months.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4389120" y="5248656"/>
            <a:ext cx="100584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Catalogue Share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5394960" y="5248656"/>
            <a:ext cx="260604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9.9% of catalogue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4389120" y="5815584"/>
            <a:ext cx="100584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Items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5394960" y="5815584"/>
            <a:ext cx="260604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Columbia High-Waist Yoga Leggings, Under Armour Sports Bra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8275320" y="1097280"/>
            <a:ext cx="3749040" cy="5394960"/>
          </a:xfrm>
          <a:prstGeom prst="rect">
            <a:avLst/>
          </a:prstGeom>
          <a:solidFill>
            <a:srgbClr val="F8FAFC"/>
          </a:solidFill>
          <a:ln w="12700">
            <a:solidFill>
              <a:srgbClr val="166534"/>
            </a:solidFill>
            <a:prstDash val="solid"/>
          </a:ln>
          <a:effectLst>
            <a:outerShdw sx="100000" sy="100000" kx="0" ky="0" algn="bl" rotWithShape="0" blurRad="38100" dist="25400" dir="2700000">
              <a:srgbClr val="AAAAAA">
                <a:alpha val="75000"/>
              </a:srgbClr>
            </a:outerShdw>
          </a:effectLst>
        </p:spPr>
      </p:sp>
      <p:sp>
        <p:nvSpPr>
          <p:cNvPr id="48" name="Shape 46"/>
          <p:cNvSpPr/>
          <p:nvPr/>
        </p:nvSpPr>
        <p:spPr>
          <a:xfrm>
            <a:off x="8275320" y="1097280"/>
            <a:ext cx="3749040" cy="640080"/>
          </a:xfrm>
          <a:prstGeom prst="rect">
            <a:avLst/>
          </a:prstGeom>
          <a:solidFill>
            <a:srgbClr val="166534"/>
          </a:solidFill>
          <a:ln w="12700">
            <a:solidFill>
              <a:srgbClr val="166534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8366760" y="1161288"/>
            <a:ext cx="512064" cy="51206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8366760" y="1161288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400" dirty="0"/>
          </a:p>
        </p:txBody>
      </p:sp>
      <p:sp>
        <p:nvSpPr>
          <p:cNvPr id="51" name="Text 49"/>
          <p:cNvSpPr/>
          <p:nvPr/>
        </p:nvSpPr>
        <p:spPr>
          <a:xfrm>
            <a:off x="8933688" y="1161288"/>
            <a:ext cx="301752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Everyday Denim Dad</a:t>
            </a:r>
            <a:endParaRPr lang="en-US" sz="1200" dirty="0"/>
          </a:p>
        </p:txBody>
      </p:sp>
      <p:sp>
        <p:nvSpPr>
          <p:cNvPr id="52" name="Text 50"/>
          <p:cNvSpPr/>
          <p:nvPr/>
        </p:nvSpPr>
        <p:spPr>
          <a:xfrm>
            <a:off x="8366760" y="1847088"/>
            <a:ext cx="100584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Gender</a:t>
            </a:r>
            <a:endParaRPr lang="en-US" sz="900" dirty="0"/>
          </a:p>
        </p:txBody>
      </p:sp>
      <p:sp>
        <p:nvSpPr>
          <p:cNvPr id="53" name="Text 51"/>
          <p:cNvSpPr/>
          <p:nvPr/>
        </p:nvSpPr>
        <p:spPr>
          <a:xfrm>
            <a:off x="9372600" y="1847088"/>
            <a:ext cx="260604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</a:t>
            </a:r>
            <a:endParaRPr lang="en-US" sz="1000" dirty="0"/>
          </a:p>
        </p:txBody>
      </p:sp>
      <p:sp>
        <p:nvSpPr>
          <p:cNvPr id="54" name="Text 52"/>
          <p:cNvSpPr/>
          <p:nvPr/>
        </p:nvSpPr>
        <p:spPr>
          <a:xfrm>
            <a:off x="8366760" y="2414016"/>
            <a:ext cx="100584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Income</a:t>
            </a:r>
            <a:endParaRPr lang="en-US" sz="900" dirty="0"/>
          </a:p>
        </p:txBody>
      </p:sp>
      <p:sp>
        <p:nvSpPr>
          <p:cNvPr id="55" name="Text 53"/>
          <p:cNvSpPr/>
          <p:nvPr/>
        </p:nvSpPr>
        <p:spPr>
          <a:xfrm>
            <a:off x="9372600" y="2414016"/>
            <a:ext cx="260604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~$45k–$65k</a:t>
            </a:r>
            <a:endParaRPr lang="en-US" sz="1000" dirty="0"/>
          </a:p>
        </p:txBody>
      </p:sp>
      <p:sp>
        <p:nvSpPr>
          <p:cNvPr id="56" name="Text 54"/>
          <p:cNvSpPr/>
          <p:nvPr/>
        </p:nvSpPr>
        <p:spPr>
          <a:xfrm>
            <a:off x="8366760" y="2980944"/>
            <a:ext cx="100584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 Tier</a:t>
            </a:r>
            <a:endParaRPr lang="en-US" sz="900" dirty="0"/>
          </a:p>
        </p:txBody>
      </p:sp>
      <p:sp>
        <p:nvSpPr>
          <p:cNvPr id="57" name="Text 55"/>
          <p:cNvSpPr/>
          <p:nvPr/>
        </p:nvSpPr>
        <p:spPr>
          <a:xfrm>
            <a:off x="9372600" y="2980944"/>
            <a:ext cx="260604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  ($39 median)</a:t>
            </a:r>
            <a:endParaRPr lang="en-US" sz="1000" dirty="0"/>
          </a:p>
        </p:txBody>
      </p:sp>
      <p:sp>
        <p:nvSpPr>
          <p:cNvPr id="58" name="Text 56"/>
          <p:cNvSpPr/>
          <p:nvPr/>
        </p:nvSpPr>
        <p:spPr>
          <a:xfrm>
            <a:off x="8366760" y="3547872"/>
            <a:ext cx="100584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Style</a:t>
            </a:r>
            <a:endParaRPr lang="en-US" sz="900" dirty="0"/>
          </a:p>
        </p:txBody>
      </p:sp>
      <p:sp>
        <p:nvSpPr>
          <p:cNvPr id="59" name="Text 57"/>
          <p:cNvSpPr/>
          <p:nvPr/>
        </p:nvSpPr>
        <p:spPr>
          <a:xfrm>
            <a:off x="9372600" y="3547872"/>
            <a:ext cx="260604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Practical, value-aware male shopper. Buys classic-fit denim and casual shirts. Old Navy and Levi's dominate — functional, not fashion-forward.</a:t>
            </a:r>
            <a:endParaRPr lang="en-US" sz="1000" dirty="0"/>
          </a:p>
        </p:txBody>
      </p:sp>
      <p:sp>
        <p:nvSpPr>
          <p:cNvPr id="60" name="Text 58"/>
          <p:cNvSpPr/>
          <p:nvPr/>
        </p:nvSpPr>
        <p:spPr>
          <a:xfrm>
            <a:off x="8366760" y="4114800"/>
            <a:ext cx="100584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Categories</a:t>
            </a:r>
            <a:endParaRPr lang="en-US" sz="900" dirty="0"/>
          </a:p>
        </p:txBody>
      </p:sp>
      <p:sp>
        <p:nvSpPr>
          <p:cNvPr id="61" name="Text 59"/>
          <p:cNvSpPr/>
          <p:nvPr/>
        </p:nvSpPr>
        <p:spPr>
          <a:xfrm>
            <a:off x="9372600" y="4114800"/>
            <a:ext cx="260604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Accessories, Denim Jeans, Casual Shirts</a:t>
            </a:r>
            <a:endParaRPr lang="en-US" sz="1000" dirty="0"/>
          </a:p>
        </p:txBody>
      </p:sp>
      <p:sp>
        <p:nvSpPr>
          <p:cNvPr id="62" name="Text 60"/>
          <p:cNvSpPr/>
          <p:nvPr/>
        </p:nvSpPr>
        <p:spPr>
          <a:xfrm>
            <a:off x="8366760" y="4681728"/>
            <a:ext cx="100584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They Shop</a:t>
            </a:r>
            <a:endParaRPr lang="en-US" sz="900" dirty="0"/>
          </a:p>
        </p:txBody>
      </p:sp>
      <p:sp>
        <p:nvSpPr>
          <p:cNvPr id="63" name="Text 61"/>
          <p:cNvSpPr/>
          <p:nvPr/>
        </p:nvSpPr>
        <p:spPr>
          <a:xfrm>
            <a:off x="9372600" y="4681728"/>
            <a:ext cx="260604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Infrequent, considered purchases. Deal-responsive — higher conversion on clear discounts. Spring and back-to-school are natural trigger windows.</a:t>
            </a:r>
            <a:endParaRPr lang="en-US" sz="1000" dirty="0"/>
          </a:p>
        </p:txBody>
      </p:sp>
      <p:sp>
        <p:nvSpPr>
          <p:cNvPr id="64" name="Text 62"/>
          <p:cNvSpPr/>
          <p:nvPr/>
        </p:nvSpPr>
        <p:spPr>
          <a:xfrm>
            <a:off x="8366760" y="5248656"/>
            <a:ext cx="100584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Catalogue Share</a:t>
            </a:r>
            <a:endParaRPr lang="en-US" sz="900" dirty="0"/>
          </a:p>
        </p:txBody>
      </p:sp>
      <p:sp>
        <p:nvSpPr>
          <p:cNvPr id="65" name="Text 63"/>
          <p:cNvSpPr/>
          <p:nvPr/>
        </p:nvSpPr>
        <p:spPr>
          <a:xfrm>
            <a:off x="9372600" y="5248656"/>
            <a:ext cx="260604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14.3% of catalogue  (largest segment)</a:t>
            </a:r>
            <a:endParaRPr lang="en-US" sz="1000" dirty="0"/>
          </a:p>
        </p:txBody>
      </p:sp>
      <p:sp>
        <p:nvSpPr>
          <p:cNvPr id="66" name="Text 64"/>
          <p:cNvSpPr/>
          <p:nvPr/>
        </p:nvSpPr>
        <p:spPr>
          <a:xfrm>
            <a:off x="8366760" y="5815584"/>
            <a:ext cx="100584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Items</a:t>
            </a:r>
            <a:endParaRPr lang="en-US" sz="900" dirty="0"/>
          </a:p>
        </p:txBody>
      </p:sp>
      <p:sp>
        <p:nvSpPr>
          <p:cNvPr id="67" name="Text 65"/>
          <p:cNvSpPr/>
          <p:nvPr/>
        </p:nvSpPr>
        <p:spPr>
          <a:xfrm>
            <a:off x="9372600" y="5815584"/>
            <a:ext cx="260604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Columbia Classic Fit Denim, Men's Short Sleeve Fishing Shirt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274320"/>
            <a:ext cx="11521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Campaign Design — 52 Weeks per Profile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20040" y="960120"/>
            <a:ext cx="1152144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040" y="1097280"/>
            <a:ext cx="5486400" cy="5029200"/>
          </a:xfrm>
          <a:prstGeom prst="rect">
            <a:avLst/>
          </a:prstGeom>
          <a:solidFill>
            <a:srgbClr val="DBEAFE"/>
          </a:solidFill>
          <a:ln w="12700">
            <a:solidFill>
              <a:srgbClr val="2563EB"/>
            </a:solidFill>
            <a:prstDash val="solid"/>
          </a:ln>
          <a:effectLst>
            <a:outerShdw sx="100000" sy="100000" kx="0" ky="0" algn="bl" rotWithShape="0" blurRad="38100" dist="25400" dir="2700000">
              <a:srgbClr val="AAAAAA">
                <a:alpha val="7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20040" y="1234440"/>
            <a:ext cx="11521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Each Weekly Deal is Selected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11480" y="1645920"/>
            <a:ext cx="5349240" cy="4297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spcAft>
                <a:spcPts val="400"/>
              </a:spcAft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Candidate pool = holdout split only (no discovery leakage)</a:t>
            </a:r>
            <a:endParaRPr lang="en-US" sz="1200" dirty="0"/>
          </a:p>
          <a:p>
            <a:pPr>
              <a:spcAft>
                <a:spcPts val="400"/>
              </a:spcAft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 to profile's affinity zone (dominant categories)</a:t>
            </a:r>
            <a:endParaRPr lang="en-US" sz="1200" dirty="0"/>
          </a:p>
          <a:p>
            <a:pPr>
              <a:spcAft>
                <a:spcPts val="400"/>
              </a:spcAft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each candidate:</a:t>
            </a:r>
            <a:endParaRPr lang="en-US" sz="1200" dirty="0"/>
          </a:p>
          <a:p>
            <a:pPr>
              <a:spcAft>
                <a:spcPts val="400"/>
              </a:spcAft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0.45 × category affinity</a:t>
            </a:r>
            <a:endParaRPr lang="en-US" sz="1200" dirty="0"/>
          </a:p>
          <a:p>
            <a:pPr>
              <a:spcAft>
                <a:spcPts val="400"/>
              </a:spcAft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0.25 × class affinity</a:t>
            </a:r>
            <a:endParaRPr lang="en-US" sz="1200" dirty="0"/>
          </a:p>
          <a:p>
            <a:pPr>
              <a:spcAft>
                <a:spcPts val="400"/>
              </a:spcAft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0.20 × brand match</a:t>
            </a:r>
            <a:endParaRPr lang="en-US" sz="1200" dirty="0"/>
          </a:p>
          <a:p>
            <a:pPr>
              <a:spcAft>
                <a:spcPts val="400"/>
              </a:spcAft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0.10 × price-tier match</a:t>
            </a:r>
            <a:endParaRPr lang="en-US" sz="1200" dirty="0"/>
          </a:p>
          <a:p>
            <a:pPr>
              <a:spcAft>
                <a:spcPts val="400"/>
              </a:spcAft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seasonality: affinity × month_weight for that category</a:t>
            </a:r>
            <a:endParaRPr lang="en-US" sz="1200" dirty="0"/>
          </a:p>
          <a:p>
            <a:pPr>
              <a:spcAft>
                <a:spcPts val="400"/>
              </a:spcAft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highest-scoring unused item each week</a:t>
            </a:r>
            <a:endParaRPr lang="en-US" sz="1200" dirty="0"/>
          </a:p>
          <a:p>
            <a:pPr>
              <a:spcAft>
                <a:spcPts val="400"/>
              </a:spcAft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Attach up to 3 co-purchase bundles via BOUGHT_WITH1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989320" y="1097280"/>
            <a:ext cx="6035040" cy="2286000"/>
          </a:xfrm>
          <a:prstGeom prst="rect">
            <a:avLst/>
          </a:prstGeom>
          <a:solidFill>
            <a:srgbClr val="FEF3C7"/>
          </a:solidFill>
          <a:ln w="12700">
            <a:solidFill>
              <a:srgbClr val="EA580C"/>
            </a:solidFill>
            <a:prstDash val="solid"/>
          </a:ln>
          <a:effectLst>
            <a:outerShdw sx="100000" sy="100000" kx="0" ky="0" algn="bl" rotWithShape="0" blurRad="38100" dist="25400" dir="2700000">
              <a:srgbClr val="AAAAAA">
                <a:alpha val="7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126480" y="1234440"/>
            <a:ext cx="11521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Seasonality Logic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126480" y="1645920"/>
            <a:ext cx="576072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spcAft>
                <a:spcPts val="400"/>
              </a:spcAft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category has month_weights (Jan–Dec)</a:t>
            </a:r>
            <a:endParaRPr lang="en-US" sz="1200" dirty="0"/>
          </a:p>
          <a:p>
            <a:pPr>
              <a:spcAft>
                <a:spcPts val="400"/>
              </a:spcAft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Outerwear peaks Oct–Dec; swimwear peaks May–Jul</a:t>
            </a:r>
            <a:endParaRPr lang="en-US" sz="1200" dirty="0"/>
          </a:p>
          <a:p>
            <a:pPr>
              <a:spcAft>
                <a:spcPts val="400"/>
              </a:spcAft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Leggings / activewear peaks Jan (New Year) + Aug</a:t>
            </a:r>
            <a:endParaRPr lang="en-US" sz="1200" dirty="0"/>
          </a:p>
          <a:p>
            <a:pPr>
              <a:spcAft>
                <a:spcPts val="400"/>
              </a:spcAft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= affinity × season_weight → seasonal sorting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989320" y="3520440"/>
            <a:ext cx="6035040" cy="2606040"/>
          </a:xfrm>
          <a:prstGeom prst="rect">
            <a:avLst/>
          </a:prstGeom>
          <a:solidFill>
            <a:srgbClr val="DCFCE7"/>
          </a:solidFill>
          <a:ln w="12700">
            <a:solidFill>
              <a:srgbClr val="166534"/>
            </a:solidFill>
            <a:prstDash val="solid"/>
          </a:ln>
          <a:effectLst>
            <a:outerShdw sx="100000" sy="100000" kx="0" ky="0" algn="bl" rotWithShape="0" blurRad="38100" dist="25400" dir="2700000">
              <a:srgbClr val="AAAAAA">
                <a:alpha val="7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126480" y="3611880"/>
            <a:ext cx="11521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Campaign Output (campaign.parquet)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126480" y="3977640"/>
            <a:ext cx="576072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cluster_id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6126480" y="4242816"/>
            <a:ext cx="576072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week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6126480" y="4507992"/>
            <a:ext cx="576072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anchor_pid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6126480" y="4773168"/>
            <a:ext cx="576072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anchor_title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6126480" y="5038344"/>
            <a:ext cx="576072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anchor_brand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6126480" y="5303520"/>
            <a:ext cx="576072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anchor_category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6126480" y="5568696"/>
            <a:ext cx="576072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anchor_price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6126480" y="5833872"/>
            <a:ext cx="576072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bundle_pids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6126480" y="6099048"/>
            <a:ext cx="576072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affinity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6126480" y="6364224"/>
            <a:ext cx="576072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season_weight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320040" y="6263640"/>
            <a:ext cx="11430000" cy="41148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  <a:effectLst>
            <a:outerShdw sx="100000" sy="100000" kx="0" ky="0" algn="bl" rotWithShape="0" blurRad="38100" dist="25400" dir="2700000">
              <a:srgbClr val="AAAAAA">
                <a:alpha val="75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457200" y="6281928"/>
            <a:ext cx="11155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profiles × 52 weeks  =  624 deals total  |  Each grounded in real holdout products, real co-purchase bundles, and real seasonality weights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274320"/>
            <a:ext cx="11521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Cadence vs. Frequency — The Core Modelling Decision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20040" y="960120"/>
            <a:ext cx="1152144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1051560"/>
            <a:ext cx="1152144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send 52 weekly offers — but no real customer buys 52 times a year. Conflating offer cadence with purchase frequency would wildly overstate value. Here is how we decouple them.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20040" y="1737360"/>
            <a:ext cx="5394960" cy="3931920"/>
          </a:xfrm>
          <a:prstGeom prst="rect">
            <a:avLst/>
          </a:prstGeom>
          <a:solidFill>
            <a:srgbClr val="DBEAFE"/>
          </a:solidFill>
          <a:ln w="12700">
            <a:solidFill>
              <a:srgbClr val="2563EB"/>
            </a:solidFill>
            <a:prstDash val="solid"/>
          </a:ln>
          <a:effectLst>
            <a:outerShdw sx="100000" sy="100000" kx="0" ky="0" algn="bl" rotWithShape="0" blurRad="38100" dist="25400" dir="2700000">
              <a:srgbClr val="AAAAAA">
                <a:alpha val="7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320040" y="1874520"/>
            <a:ext cx="11521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52 Weekly Offers (cadence)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11480" y="2286000"/>
            <a:ext cx="521208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spcAft>
                <a:spcPts val="400"/>
              </a:spcAft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offer per week, every week of the year</a:t>
            </a:r>
            <a:endParaRPr lang="en-US" sz="1200" dirty="0"/>
          </a:p>
          <a:p>
            <a:pPr>
              <a:spcAft>
                <a:spcPts val="400"/>
              </a:spcAft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Covers the full seasonal calendar</a:t>
            </a:r>
            <a:endParaRPr lang="en-US" sz="1200" dirty="0"/>
          </a:p>
          <a:p>
            <a:pPr>
              <a:spcAft>
                <a:spcPts val="400"/>
              </a:spcAft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Prevents repetition — each item used once (then recycled only if pool exhausted)</a:t>
            </a:r>
            <a:endParaRPr lang="en-US" sz="1200" dirty="0"/>
          </a:p>
          <a:p>
            <a:pPr>
              <a:spcAft>
                <a:spcPts val="400"/>
              </a:spcAft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Bundles keep the offer relevant</a:t>
            </a:r>
            <a:endParaRPr lang="en-US" sz="1200" dirty="0"/>
          </a:p>
          <a:p>
            <a:pPr>
              <a:spcAft>
                <a:spcPts val="400"/>
              </a:spcAft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offer has a conversion probability p_week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897880" y="1737360"/>
            <a:ext cx="6126480" cy="3931920"/>
          </a:xfrm>
          <a:prstGeom prst="rect">
            <a:avLst/>
          </a:prstGeom>
          <a:solidFill>
            <a:srgbClr val="FEF3C7"/>
          </a:solidFill>
          <a:ln w="12700">
            <a:solidFill>
              <a:srgbClr val="EA580C"/>
            </a:solidFill>
            <a:prstDash val="solid"/>
          </a:ln>
          <a:effectLst>
            <a:outerShdw sx="100000" sy="100000" kx="0" ky="0" algn="bl" rotWithShape="0" blurRad="38100" dist="25400" dir="2700000">
              <a:srgbClr val="AAAAAA">
                <a:alpha val="7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035040" y="1874520"/>
            <a:ext cx="11521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Realistic Purchase Frequency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989320" y="2286000"/>
            <a:ext cx="59436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spcAft>
                <a:spcPts val="400"/>
              </a:spcAft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assumption: 4 annual purchases (from config.yaml — tunable)</a:t>
            </a:r>
            <a:endParaRPr lang="en-US" sz="1200" dirty="0"/>
          </a:p>
          <a:p>
            <a:pPr>
              <a:spcAft>
                <a:spcPts val="400"/>
              </a:spcAft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Scaled by per-profile engagement: annual_cap = 4.0 × mean(affinity_factor)</a:t>
            </a:r>
            <a:endParaRPr lang="en-US" sz="1200" dirty="0"/>
          </a:p>
          <a:p>
            <a:pPr>
              <a:spcAft>
                <a:spcPts val="400"/>
              </a:spcAft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orders = min(sum(p_week for 52 weeks), annual_cap)</a:t>
            </a:r>
            <a:endParaRPr lang="en-US" sz="1200" dirty="0"/>
          </a:p>
          <a:p>
            <a:pPr>
              <a:spcAft>
                <a:spcPts val="400"/>
              </a:spcAft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Offer-fatigue decay: 0.92^(week mod 8) — resets roughly bi-monthly</a:t>
            </a:r>
            <a:endParaRPr lang="en-US" sz="1200" dirty="0"/>
          </a:p>
          <a:p>
            <a:pPr>
              <a:spcAft>
                <a:spcPts val="400"/>
              </a:spcAft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 3–6 realistic expected orders per year, not 52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20040" y="5760720"/>
            <a:ext cx="11430000" cy="82296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38100" dist="25400" dir="2700000">
              <a:srgbClr val="AAAAAA">
                <a:alpha val="7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57200" y="5806440"/>
            <a:ext cx="11155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Calibri (Body)" pitchFamily="34" charset="0"/>
                <a:ea typeface="Calibri (Body)" pitchFamily="34" charset="-122"/>
                <a:cs typeface="Calibri (Body)" pitchFamily="34" charset="-120"/>
              </a:rPr>
              <a:t>expected_annual_orders  =  min( Σ p_week , base_annual_orders × engagement )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57200" y="6199632"/>
            <a:ext cx="11155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annual_customer_value  =  expected_annual_orders  ×  avg_order_value  ×  gross_margin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274320"/>
            <a:ext cx="11521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Conversion Model — Defended, Without Ground Truth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20040" y="960120"/>
            <a:ext cx="1152144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1051560"/>
            <a:ext cx="1152144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transaction log exists. Conversion is a modelled estimate, not a measurement. Every factor is independently motivated and every assumption is in config.yaml for open inspection.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20040" y="1737360"/>
            <a:ext cx="11430000" cy="68580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  <a:effectLst>
            <a:outerShdw sx="100000" sy="100000" kx="0" ky="0" algn="bl" rotWithShape="0" blurRad="38100" dist="25400" dir="2700000">
              <a:srgbClr val="AAAAAA">
                <a:alpha val="7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57200" y="1783080"/>
            <a:ext cx="11155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p_convert  =  base  ×  affinity_factor  ×  price_fit_factor  ×  season_factor  ×  fatigue_factor     (clipped 0 → 0.6)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20040" y="2606040"/>
            <a:ext cx="3657600" cy="1691640"/>
          </a:xfrm>
          <a:prstGeom prst="rect">
            <a:avLst/>
          </a:prstGeom>
          <a:solidFill>
            <a:srgbClr val="E2E8F0"/>
          </a:solidFill>
          <a:ln w="12700">
            <a:solidFill>
              <a:srgbClr val="64748B"/>
            </a:solidFill>
            <a:prstDash val="solid"/>
          </a:ln>
          <a:effectLst>
            <a:outerShdw sx="100000" sy="100000" kx="0" ky="0" algn="bl" rotWithShape="0" blurRad="38100" dist="25400" dir="2700000">
              <a:srgbClr val="AAAAAA">
                <a:alpha val="7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11480" y="2697480"/>
            <a:ext cx="3474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11480" y="306324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i="1" dirty="0">
                <a:solidFill>
                  <a:srgbClr val="1E293B"/>
                </a:solidFill>
                <a:latin typeface="Calibri (Body)" pitchFamily="34" charset="0"/>
                <a:ea typeface="Calibri (Body)" pitchFamily="34" charset="-122"/>
                <a:cs typeface="Calibri (Body)" pitchFamily="34" charset="-120"/>
              </a:rPr>
              <a:t>0.06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11480" y="3383280"/>
            <a:ext cx="347472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Stated industry-typical weekly email conversion rate. Transparent assumption — not estimated from data.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178808" y="2606040"/>
            <a:ext cx="3657600" cy="1691640"/>
          </a:xfrm>
          <a:prstGeom prst="rect">
            <a:avLst/>
          </a:prstGeom>
          <a:solidFill>
            <a:srgbClr val="DBEAFE"/>
          </a:solidFill>
          <a:ln w="12700">
            <a:solidFill>
              <a:srgbClr val="2563EB"/>
            </a:solidFill>
            <a:prstDash val="solid"/>
          </a:ln>
          <a:effectLst>
            <a:outerShdw sx="100000" sy="100000" kx="0" ky="0" algn="bl" rotWithShape="0" blurRad="38100" dist="25400" dir="2700000">
              <a:srgbClr val="AAAAAA">
                <a:alpha val="7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270248" y="2697480"/>
            <a:ext cx="3474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Affinity Factor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270248" y="306324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i="1" dirty="0">
                <a:solidFill>
                  <a:srgbClr val="1E293B"/>
                </a:solidFill>
                <a:latin typeface="Calibri (Body)" pitchFamily="34" charset="0"/>
                <a:ea typeface="Calibri (Body)" pitchFamily="34" charset="-122"/>
                <a:cs typeface="Calibri (Body)" pitchFamily="34" charset="-120"/>
              </a:rPr>
              <a:t>0.5 + affinity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270248" y="3383280"/>
            <a:ext cx="347472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Range 0.5–1.5. Stronger product-profile fit → higher conversion. Directly from the affinity scoring in Stage 5.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8037576" y="2606040"/>
            <a:ext cx="3657600" cy="1691640"/>
          </a:xfrm>
          <a:prstGeom prst="rect">
            <a:avLst/>
          </a:prstGeom>
          <a:solidFill>
            <a:srgbClr val="FEF3C7"/>
          </a:solidFill>
          <a:ln w="12700">
            <a:solidFill>
              <a:srgbClr val="EA580C"/>
            </a:solidFill>
            <a:prstDash val="solid"/>
          </a:ln>
          <a:effectLst>
            <a:outerShdw sx="100000" sy="100000" kx="0" ky="0" algn="bl" rotWithShape="0" blurRad="38100" dist="25400" dir="2700000">
              <a:srgbClr val="AAAAAA">
                <a:alpha val="75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8129016" y="2697480"/>
            <a:ext cx="3474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Price-Fit Factor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8129016" y="306324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i="1" dirty="0">
                <a:solidFill>
                  <a:srgbClr val="1E293B"/>
                </a:solidFill>
                <a:latin typeface="Calibri (Body)" pitchFamily="34" charset="0"/>
                <a:ea typeface="Calibri (Body)" pitchFamily="34" charset="-122"/>
                <a:cs typeface="Calibri (Body)" pitchFamily="34" charset="-120"/>
              </a:rPr>
              <a:t>matrix lookup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8129016" y="3383280"/>
            <a:ext cx="347472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3×4 table: profile's dominant tier vs deal tier. A value-profile served a premium item discounts by ~65%. Motivated by price-sensitivity research.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320040" y="4526280"/>
            <a:ext cx="3657600" cy="1691640"/>
          </a:xfrm>
          <a:prstGeom prst="rect">
            <a:avLst/>
          </a:prstGeom>
          <a:solidFill>
            <a:srgbClr val="DCFCE7"/>
          </a:solidFill>
          <a:ln w="12700">
            <a:solidFill>
              <a:srgbClr val="166534"/>
            </a:solidFill>
            <a:prstDash val="solid"/>
          </a:ln>
          <a:effectLst>
            <a:outerShdw sx="100000" sy="100000" kx="0" ky="0" algn="bl" rotWithShape="0" blurRad="38100" dist="25400" dir="2700000">
              <a:srgbClr val="AAAAAA">
                <a:alpha val="75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411480" y="4617720"/>
            <a:ext cx="3474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Season Factor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11480" y="498348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i="1" dirty="0">
                <a:solidFill>
                  <a:srgbClr val="1E293B"/>
                </a:solidFill>
                <a:latin typeface="Calibri (Body)" pitchFamily="34" charset="0"/>
                <a:ea typeface="Calibri (Body)" pitchFamily="34" charset="-122"/>
                <a:cs typeface="Calibri (Body)" pitchFamily="34" charset="-120"/>
              </a:rPr>
              <a:t>0.7 + 0.3 × norm(sw)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11480" y="5303520"/>
            <a:ext cx="347472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Range 0.7–1.0. In-season items convert better. Motivated by known seasonal retail lift patterns.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4178808" y="4526280"/>
            <a:ext cx="3657600" cy="1691640"/>
          </a:xfrm>
          <a:prstGeom prst="rect">
            <a:avLst/>
          </a:prstGeom>
          <a:solidFill>
            <a:srgbClr val="DBEAFE"/>
          </a:solidFill>
          <a:ln w="12700">
            <a:solidFill>
              <a:srgbClr val="1B2A4A"/>
            </a:solidFill>
            <a:prstDash val="solid"/>
          </a:ln>
          <a:effectLst>
            <a:outerShdw sx="100000" sy="100000" kx="0" ky="0" algn="bl" rotWithShape="0" blurRad="38100" dist="25400" dir="2700000">
              <a:srgbClr val="AAAAAA">
                <a:alpha val="75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4270248" y="4617720"/>
            <a:ext cx="3474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Fatigue Factor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4270248" y="498348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i="1" dirty="0">
                <a:solidFill>
                  <a:srgbClr val="1E293B"/>
                </a:solidFill>
                <a:latin typeface="Calibri (Body)" pitchFamily="34" charset="0"/>
                <a:ea typeface="Calibri (Body)" pitchFamily="34" charset="-122"/>
                <a:cs typeface="Calibri (Body)" pitchFamily="34" charset="-120"/>
              </a:rPr>
              <a:t>0.92^(week mod 8)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270248" y="5303520"/>
            <a:ext cx="347472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Decays within an 8-week cycle then resets. Models diminishing returns of repeated weekly contact. 0.92 decay from config.yaml.</a:t>
            </a:r>
            <a:endParaRPr lang="en-US" sz="10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274320"/>
            <a:ext cx="11521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Valuation Results — Annual Customer Value per Profile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20040" y="960120"/>
            <a:ext cx="1152144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040" y="1097280"/>
            <a:ext cx="11430000" cy="41148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  <a:effectLst>
            <a:outerShdw sx="100000" sy="100000" kx="0" ky="0" algn="bl" rotWithShape="0" blurRad="38100" dist="25400" dir="2700000">
              <a:srgbClr val="AAAAAA">
                <a:alpha val="7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65760" y="1115568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22960" y="1115568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Profile Name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035040" y="1115568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132320" y="1115568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Order Value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8595360" y="1115568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Est. Annual Orders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0149840" y="1115568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 CLV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20040" y="1554480"/>
            <a:ext cx="1143000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38100" dist="25400" dir="2700000">
              <a:srgbClr val="AAAAAA">
                <a:alpha val="7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365760" y="1600200"/>
            <a:ext cx="411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804672" y="1600200"/>
            <a:ext cx="5166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Outerwear Enthusiast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035040" y="1600200"/>
            <a:ext cx="1051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Premium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7132320" y="1600200"/>
            <a:ext cx="1417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$214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8549640" y="1600200"/>
            <a:ext cx="1554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4.2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10104120" y="1600200"/>
            <a:ext cx="1554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$405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20040" y="1947672"/>
            <a:ext cx="11430000" cy="384048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38100" dist="25400" dir="2700000">
              <a:srgbClr val="AAAAAA">
                <a:alpha val="75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5760" y="1993392"/>
            <a:ext cx="411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804672" y="1993392"/>
            <a:ext cx="5166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Elite Accessories Collector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035040" y="1993392"/>
            <a:ext cx="1051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Premium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7132320" y="1993392"/>
            <a:ext cx="1417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$152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8549640" y="1993392"/>
            <a:ext cx="1554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4.1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10104120" y="1993392"/>
            <a:ext cx="1554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$280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20040" y="2340864"/>
            <a:ext cx="1143000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38100" dist="25400" dir="2700000">
              <a:srgbClr val="AAAAAA">
                <a:alpha val="75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365760" y="2386584"/>
            <a:ext cx="411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804672" y="2386584"/>
            <a:ext cx="5166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Luxury Accessories Woman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6035040" y="2386584"/>
            <a:ext cx="1051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Premium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7132320" y="2386584"/>
            <a:ext cx="1417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$120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8549640" y="2386584"/>
            <a:ext cx="1554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4.0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10104120" y="2386584"/>
            <a:ext cx="1554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$216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320040" y="2734056"/>
            <a:ext cx="11430000" cy="384048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38100" dist="25400" dir="2700000">
              <a:srgbClr val="AAAAAA">
                <a:alpha val="75000"/>
              </a:srgbClr>
            </a:outerShdw>
          </a:effectLst>
        </p:spPr>
      </p:sp>
      <p:sp>
        <p:nvSpPr>
          <p:cNvPr id="34" name="Text 32"/>
          <p:cNvSpPr/>
          <p:nvPr/>
        </p:nvSpPr>
        <p:spPr>
          <a:xfrm>
            <a:off x="365760" y="2779776"/>
            <a:ext cx="411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804672" y="2779776"/>
            <a:ext cx="5166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Premium Athlete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6035040" y="2779776"/>
            <a:ext cx="1051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Premium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7132320" y="2779776"/>
            <a:ext cx="1417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$100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8549640" y="2779776"/>
            <a:ext cx="1554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4.0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10104120" y="2779776"/>
            <a:ext cx="1554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$180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320040" y="3127248"/>
            <a:ext cx="1143000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38100" dist="25400" dir="2700000">
              <a:srgbClr val="AAAAAA">
                <a:alpha val="75000"/>
              </a:srgbClr>
            </a:outerShdw>
          </a:effectLst>
        </p:spPr>
      </p:sp>
      <p:sp>
        <p:nvSpPr>
          <p:cNvPr id="41" name="Text 39"/>
          <p:cNvSpPr/>
          <p:nvPr/>
        </p:nvSpPr>
        <p:spPr>
          <a:xfrm>
            <a:off x="365760" y="3172968"/>
            <a:ext cx="411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804672" y="3172968"/>
            <a:ext cx="5166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Fitness-Forward Woman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6035040" y="3172968"/>
            <a:ext cx="1051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7132320" y="3172968"/>
            <a:ext cx="1417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$40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8549640" y="3172968"/>
            <a:ext cx="1554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4.0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10104120" y="3172968"/>
            <a:ext cx="1554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$72</a:t>
            </a:r>
            <a:endParaRPr lang="en-US" sz="1100" dirty="0"/>
          </a:p>
        </p:txBody>
      </p:sp>
      <p:sp>
        <p:nvSpPr>
          <p:cNvPr id="47" name="Shape 45"/>
          <p:cNvSpPr/>
          <p:nvPr/>
        </p:nvSpPr>
        <p:spPr>
          <a:xfrm>
            <a:off x="320040" y="3520440"/>
            <a:ext cx="11430000" cy="384048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38100" dist="25400" dir="2700000">
              <a:srgbClr val="AAAAAA">
                <a:alpha val="75000"/>
              </a:srgbClr>
            </a:outerShdw>
          </a:effectLst>
        </p:spPr>
      </p:sp>
      <p:sp>
        <p:nvSpPr>
          <p:cNvPr id="48" name="Text 46"/>
          <p:cNvSpPr/>
          <p:nvPr/>
        </p:nvSpPr>
        <p:spPr>
          <a:xfrm>
            <a:off x="365760" y="3566160"/>
            <a:ext cx="411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49" name="Text 47"/>
          <p:cNvSpPr/>
          <p:nvPr/>
        </p:nvSpPr>
        <p:spPr>
          <a:xfrm>
            <a:off x="804672" y="3566160"/>
            <a:ext cx="5166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Polo Guy</a:t>
            </a:r>
            <a:endParaRPr lang="en-US" sz="1100" dirty="0"/>
          </a:p>
        </p:txBody>
      </p:sp>
      <p:sp>
        <p:nvSpPr>
          <p:cNvPr id="50" name="Text 48"/>
          <p:cNvSpPr/>
          <p:nvPr/>
        </p:nvSpPr>
        <p:spPr>
          <a:xfrm>
            <a:off x="6035040" y="3566160"/>
            <a:ext cx="1051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</a:t>
            </a:r>
            <a:endParaRPr lang="en-US" sz="1000" dirty="0"/>
          </a:p>
        </p:txBody>
      </p:sp>
      <p:sp>
        <p:nvSpPr>
          <p:cNvPr id="51" name="Text 49"/>
          <p:cNvSpPr/>
          <p:nvPr/>
        </p:nvSpPr>
        <p:spPr>
          <a:xfrm>
            <a:off x="7132320" y="3566160"/>
            <a:ext cx="1417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$46</a:t>
            </a:r>
            <a:endParaRPr lang="en-US" sz="1100" dirty="0"/>
          </a:p>
        </p:txBody>
      </p:sp>
      <p:sp>
        <p:nvSpPr>
          <p:cNvPr id="52" name="Text 50"/>
          <p:cNvSpPr/>
          <p:nvPr/>
        </p:nvSpPr>
        <p:spPr>
          <a:xfrm>
            <a:off x="8549640" y="3566160"/>
            <a:ext cx="1554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4.0</a:t>
            </a:r>
            <a:endParaRPr lang="en-US" sz="1100" dirty="0"/>
          </a:p>
        </p:txBody>
      </p:sp>
      <p:sp>
        <p:nvSpPr>
          <p:cNvPr id="53" name="Text 51"/>
          <p:cNvSpPr/>
          <p:nvPr/>
        </p:nvSpPr>
        <p:spPr>
          <a:xfrm>
            <a:off x="10104120" y="3566160"/>
            <a:ext cx="1554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$83</a:t>
            </a:r>
            <a:endParaRPr lang="en-US" sz="1100" dirty="0"/>
          </a:p>
        </p:txBody>
      </p:sp>
      <p:sp>
        <p:nvSpPr>
          <p:cNvPr id="54" name="Shape 52"/>
          <p:cNvSpPr/>
          <p:nvPr/>
        </p:nvSpPr>
        <p:spPr>
          <a:xfrm>
            <a:off x="320040" y="3913632"/>
            <a:ext cx="1143000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38100" dist="25400" dir="2700000">
              <a:srgbClr val="AAAAAA">
                <a:alpha val="75000"/>
              </a:srgbClr>
            </a:outerShdw>
          </a:effectLst>
        </p:spPr>
      </p:sp>
      <p:sp>
        <p:nvSpPr>
          <p:cNvPr id="55" name="Text 53"/>
          <p:cNvSpPr/>
          <p:nvPr/>
        </p:nvSpPr>
        <p:spPr>
          <a:xfrm>
            <a:off x="365760" y="3959352"/>
            <a:ext cx="411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100" dirty="0"/>
          </a:p>
        </p:txBody>
      </p:sp>
      <p:sp>
        <p:nvSpPr>
          <p:cNvPr id="56" name="Text 54"/>
          <p:cNvSpPr/>
          <p:nvPr/>
        </p:nvSpPr>
        <p:spPr>
          <a:xfrm>
            <a:off x="804672" y="3959352"/>
            <a:ext cx="5166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Mid-Range Sneaker Fan</a:t>
            </a:r>
            <a:endParaRPr lang="en-US" sz="1100" dirty="0"/>
          </a:p>
        </p:txBody>
      </p:sp>
      <p:sp>
        <p:nvSpPr>
          <p:cNvPr id="57" name="Text 55"/>
          <p:cNvSpPr/>
          <p:nvPr/>
        </p:nvSpPr>
        <p:spPr>
          <a:xfrm>
            <a:off x="6035040" y="3959352"/>
            <a:ext cx="1051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</a:t>
            </a:r>
            <a:endParaRPr lang="en-US" sz="1000" dirty="0"/>
          </a:p>
        </p:txBody>
      </p:sp>
      <p:sp>
        <p:nvSpPr>
          <p:cNvPr id="58" name="Text 56"/>
          <p:cNvSpPr/>
          <p:nvPr/>
        </p:nvSpPr>
        <p:spPr>
          <a:xfrm>
            <a:off x="7132320" y="3959352"/>
            <a:ext cx="1417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$66</a:t>
            </a:r>
            <a:endParaRPr lang="en-US" sz="1100" dirty="0"/>
          </a:p>
        </p:txBody>
      </p:sp>
      <p:sp>
        <p:nvSpPr>
          <p:cNvPr id="59" name="Text 57"/>
          <p:cNvSpPr/>
          <p:nvPr/>
        </p:nvSpPr>
        <p:spPr>
          <a:xfrm>
            <a:off x="8549640" y="3959352"/>
            <a:ext cx="1554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4.0</a:t>
            </a:r>
            <a:endParaRPr lang="en-US" sz="1100" dirty="0"/>
          </a:p>
        </p:txBody>
      </p:sp>
      <p:sp>
        <p:nvSpPr>
          <p:cNvPr id="60" name="Text 58"/>
          <p:cNvSpPr/>
          <p:nvPr/>
        </p:nvSpPr>
        <p:spPr>
          <a:xfrm>
            <a:off x="10104120" y="3959352"/>
            <a:ext cx="1554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$119</a:t>
            </a:r>
            <a:endParaRPr lang="en-US" sz="1100" dirty="0"/>
          </a:p>
        </p:txBody>
      </p:sp>
      <p:sp>
        <p:nvSpPr>
          <p:cNvPr id="61" name="Shape 59"/>
          <p:cNvSpPr/>
          <p:nvPr/>
        </p:nvSpPr>
        <p:spPr>
          <a:xfrm>
            <a:off x="320040" y="4306824"/>
            <a:ext cx="11430000" cy="384048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38100" dist="25400" dir="2700000">
              <a:srgbClr val="AAAAAA">
                <a:alpha val="75000"/>
              </a:srgbClr>
            </a:outerShdw>
          </a:effectLst>
        </p:spPr>
      </p:sp>
      <p:sp>
        <p:nvSpPr>
          <p:cNvPr id="62" name="Text 60"/>
          <p:cNvSpPr/>
          <p:nvPr/>
        </p:nvSpPr>
        <p:spPr>
          <a:xfrm>
            <a:off x="365760" y="4352544"/>
            <a:ext cx="411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100" dirty="0"/>
          </a:p>
        </p:txBody>
      </p:sp>
      <p:sp>
        <p:nvSpPr>
          <p:cNvPr id="63" name="Text 61"/>
          <p:cNvSpPr/>
          <p:nvPr/>
        </p:nvSpPr>
        <p:spPr>
          <a:xfrm>
            <a:off x="804672" y="4352544"/>
            <a:ext cx="5166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Classic Knitwear Shopper</a:t>
            </a:r>
            <a:endParaRPr lang="en-US" sz="1100" dirty="0"/>
          </a:p>
        </p:txBody>
      </p:sp>
      <p:sp>
        <p:nvSpPr>
          <p:cNvPr id="64" name="Text 62"/>
          <p:cNvSpPr/>
          <p:nvPr/>
        </p:nvSpPr>
        <p:spPr>
          <a:xfrm>
            <a:off x="6035040" y="4352544"/>
            <a:ext cx="1051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</a:t>
            </a:r>
            <a:endParaRPr lang="en-US" sz="1000" dirty="0"/>
          </a:p>
        </p:txBody>
      </p:sp>
      <p:sp>
        <p:nvSpPr>
          <p:cNvPr id="65" name="Text 63"/>
          <p:cNvSpPr/>
          <p:nvPr/>
        </p:nvSpPr>
        <p:spPr>
          <a:xfrm>
            <a:off x="7132320" y="4352544"/>
            <a:ext cx="1417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$41</a:t>
            </a:r>
            <a:endParaRPr lang="en-US" sz="1100" dirty="0"/>
          </a:p>
        </p:txBody>
      </p:sp>
      <p:sp>
        <p:nvSpPr>
          <p:cNvPr id="66" name="Text 64"/>
          <p:cNvSpPr/>
          <p:nvPr/>
        </p:nvSpPr>
        <p:spPr>
          <a:xfrm>
            <a:off x="8549640" y="4352544"/>
            <a:ext cx="1554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4.0</a:t>
            </a:r>
            <a:endParaRPr lang="en-US" sz="1100" dirty="0"/>
          </a:p>
        </p:txBody>
      </p:sp>
      <p:sp>
        <p:nvSpPr>
          <p:cNvPr id="67" name="Text 65"/>
          <p:cNvSpPr/>
          <p:nvPr/>
        </p:nvSpPr>
        <p:spPr>
          <a:xfrm>
            <a:off x="10104120" y="4352544"/>
            <a:ext cx="1554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$74</a:t>
            </a:r>
            <a:endParaRPr lang="en-US" sz="1100" dirty="0"/>
          </a:p>
        </p:txBody>
      </p:sp>
      <p:sp>
        <p:nvSpPr>
          <p:cNvPr id="68" name="Shape 66"/>
          <p:cNvSpPr/>
          <p:nvPr/>
        </p:nvSpPr>
        <p:spPr>
          <a:xfrm>
            <a:off x="320040" y="4700016"/>
            <a:ext cx="1143000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38100" dist="25400" dir="2700000">
              <a:srgbClr val="AAAAAA">
                <a:alpha val="75000"/>
              </a:srgbClr>
            </a:outerShdw>
          </a:effectLst>
        </p:spPr>
      </p:sp>
      <p:sp>
        <p:nvSpPr>
          <p:cNvPr id="69" name="Text 67"/>
          <p:cNvSpPr/>
          <p:nvPr/>
        </p:nvSpPr>
        <p:spPr>
          <a:xfrm>
            <a:off x="365760" y="4745736"/>
            <a:ext cx="411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100" dirty="0"/>
          </a:p>
        </p:txBody>
      </p:sp>
      <p:sp>
        <p:nvSpPr>
          <p:cNvPr id="70" name="Text 68"/>
          <p:cNvSpPr/>
          <p:nvPr/>
        </p:nvSpPr>
        <p:spPr>
          <a:xfrm>
            <a:off x="804672" y="4745736"/>
            <a:ext cx="5166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Everyday Jewellery Shopper</a:t>
            </a:r>
            <a:endParaRPr lang="en-US" sz="1100" dirty="0"/>
          </a:p>
        </p:txBody>
      </p:sp>
      <p:sp>
        <p:nvSpPr>
          <p:cNvPr id="71" name="Text 69"/>
          <p:cNvSpPr/>
          <p:nvPr/>
        </p:nvSpPr>
        <p:spPr>
          <a:xfrm>
            <a:off x="6035040" y="4745736"/>
            <a:ext cx="1051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</a:t>
            </a:r>
            <a:endParaRPr lang="en-US" sz="1000" dirty="0"/>
          </a:p>
        </p:txBody>
      </p:sp>
      <p:sp>
        <p:nvSpPr>
          <p:cNvPr id="72" name="Text 70"/>
          <p:cNvSpPr/>
          <p:nvPr/>
        </p:nvSpPr>
        <p:spPr>
          <a:xfrm>
            <a:off x="7132320" y="4745736"/>
            <a:ext cx="1417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$44</a:t>
            </a:r>
            <a:endParaRPr lang="en-US" sz="1100" dirty="0"/>
          </a:p>
        </p:txBody>
      </p:sp>
      <p:sp>
        <p:nvSpPr>
          <p:cNvPr id="73" name="Text 71"/>
          <p:cNvSpPr/>
          <p:nvPr/>
        </p:nvSpPr>
        <p:spPr>
          <a:xfrm>
            <a:off x="8549640" y="4745736"/>
            <a:ext cx="1554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4.0</a:t>
            </a:r>
            <a:endParaRPr lang="en-US" sz="1100" dirty="0"/>
          </a:p>
        </p:txBody>
      </p:sp>
      <p:sp>
        <p:nvSpPr>
          <p:cNvPr id="74" name="Text 72"/>
          <p:cNvSpPr/>
          <p:nvPr/>
        </p:nvSpPr>
        <p:spPr>
          <a:xfrm>
            <a:off x="10104120" y="4745736"/>
            <a:ext cx="1554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$79</a:t>
            </a:r>
            <a:endParaRPr lang="en-US" sz="1100" dirty="0"/>
          </a:p>
        </p:txBody>
      </p:sp>
      <p:sp>
        <p:nvSpPr>
          <p:cNvPr id="75" name="Shape 73"/>
          <p:cNvSpPr/>
          <p:nvPr/>
        </p:nvSpPr>
        <p:spPr>
          <a:xfrm>
            <a:off x="320040" y="5093208"/>
            <a:ext cx="11430000" cy="384048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38100" dist="25400" dir="2700000">
              <a:srgbClr val="AAAAAA">
                <a:alpha val="75000"/>
              </a:srgbClr>
            </a:outerShdw>
          </a:effectLst>
        </p:spPr>
      </p:sp>
      <p:sp>
        <p:nvSpPr>
          <p:cNvPr id="76" name="Text 74"/>
          <p:cNvSpPr/>
          <p:nvPr/>
        </p:nvSpPr>
        <p:spPr>
          <a:xfrm>
            <a:off x="365760" y="5138928"/>
            <a:ext cx="411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100" dirty="0"/>
          </a:p>
        </p:txBody>
      </p:sp>
      <p:sp>
        <p:nvSpPr>
          <p:cNvPr id="77" name="Text 75"/>
          <p:cNvSpPr/>
          <p:nvPr/>
        </p:nvSpPr>
        <p:spPr>
          <a:xfrm>
            <a:off x="804672" y="5138928"/>
            <a:ext cx="5166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Everyday Denim Dad</a:t>
            </a:r>
            <a:endParaRPr lang="en-US" sz="1100" dirty="0"/>
          </a:p>
        </p:txBody>
      </p:sp>
      <p:sp>
        <p:nvSpPr>
          <p:cNvPr id="78" name="Text 76"/>
          <p:cNvSpPr/>
          <p:nvPr/>
        </p:nvSpPr>
        <p:spPr>
          <a:xfrm>
            <a:off x="6035040" y="5138928"/>
            <a:ext cx="1051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</a:t>
            </a:r>
            <a:endParaRPr lang="en-US" sz="1000" dirty="0"/>
          </a:p>
        </p:txBody>
      </p:sp>
      <p:sp>
        <p:nvSpPr>
          <p:cNvPr id="79" name="Text 77"/>
          <p:cNvSpPr/>
          <p:nvPr/>
        </p:nvSpPr>
        <p:spPr>
          <a:xfrm>
            <a:off x="7132320" y="5138928"/>
            <a:ext cx="1417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$39</a:t>
            </a:r>
            <a:endParaRPr lang="en-US" sz="1100" dirty="0"/>
          </a:p>
        </p:txBody>
      </p:sp>
      <p:sp>
        <p:nvSpPr>
          <p:cNvPr id="80" name="Text 78"/>
          <p:cNvSpPr/>
          <p:nvPr/>
        </p:nvSpPr>
        <p:spPr>
          <a:xfrm>
            <a:off x="8549640" y="5138928"/>
            <a:ext cx="1554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4.0</a:t>
            </a:r>
            <a:endParaRPr lang="en-US" sz="1100" dirty="0"/>
          </a:p>
        </p:txBody>
      </p:sp>
      <p:sp>
        <p:nvSpPr>
          <p:cNvPr id="81" name="Text 79"/>
          <p:cNvSpPr/>
          <p:nvPr/>
        </p:nvSpPr>
        <p:spPr>
          <a:xfrm>
            <a:off x="10104120" y="5138928"/>
            <a:ext cx="1554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$70</a:t>
            </a:r>
            <a:endParaRPr lang="en-US" sz="1100" dirty="0"/>
          </a:p>
        </p:txBody>
      </p:sp>
      <p:sp>
        <p:nvSpPr>
          <p:cNvPr id="82" name="Shape 80"/>
          <p:cNvSpPr/>
          <p:nvPr/>
        </p:nvSpPr>
        <p:spPr>
          <a:xfrm>
            <a:off x="320040" y="5486400"/>
            <a:ext cx="1143000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38100" dist="25400" dir="2700000">
              <a:srgbClr val="AAAAAA">
                <a:alpha val="75000"/>
              </a:srgbClr>
            </a:outerShdw>
          </a:effectLst>
        </p:spPr>
      </p:sp>
      <p:sp>
        <p:nvSpPr>
          <p:cNvPr id="83" name="Text 81"/>
          <p:cNvSpPr/>
          <p:nvPr/>
        </p:nvSpPr>
        <p:spPr>
          <a:xfrm>
            <a:off x="365760" y="5532120"/>
            <a:ext cx="411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84" name="Text 82"/>
          <p:cNvSpPr/>
          <p:nvPr/>
        </p:nvSpPr>
        <p:spPr>
          <a:xfrm>
            <a:off x="804672" y="5532120"/>
            <a:ext cx="5166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 Men's Essentials</a:t>
            </a:r>
            <a:endParaRPr lang="en-US" sz="1100" dirty="0"/>
          </a:p>
        </p:txBody>
      </p:sp>
      <p:sp>
        <p:nvSpPr>
          <p:cNvPr id="85" name="Text 83"/>
          <p:cNvSpPr/>
          <p:nvPr/>
        </p:nvSpPr>
        <p:spPr>
          <a:xfrm>
            <a:off x="6035040" y="5532120"/>
            <a:ext cx="1051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</a:t>
            </a:r>
            <a:endParaRPr lang="en-US" sz="1000" dirty="0"/>
          </a:p>
        </p:txBody>
      </p:sp>
      <p:sp>
        <p:nvSpPr>
          <p:cNvPr id="86" name="Text 84"/>
          <p:cNvSpPr/>
          <p:nvPr/>
        </p:nvSpPr>
        <p:spPr>
          <a:xfrm>
            <a:off x="7132320" y="5532120"/>
            <a:ext cx="1417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$16</a:t>
            </a:r>
            <a:endParaRPr lang="en-US" sz="1100" dirty="0"/>
          </a:p>
        </p:txBody>
      </p:sp>
      <p:sp>
        <p:nvSpPr>
          <p:cNvPr id="87" name="Text 85"/>
          <p:cNvSpPr/>
          <p:nvPr/>
        </p:nvSpPr>
        <p:spPr>
          <a:xfrm>
            <a:off x="8549640" y="5532120"/>
            <a:ext cx="1554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4.0</a:t>
            </a:r>
            <a:endParaRPr lang="en-US" sz="1100" dirty="0"/>
          </a:p>
        </p:txBody>
      </p:sp>
      <p:sp>
        <p:nvSpPr>
          <p:cNvPr id="88" name="Text 86"/>
          <p:cNvSpPr/>
          <p:nvPr/>
        </p:nvSpPr>
        <p:spPr>
          <a:xfrm>
            <a:off x="10104120" y="5532120"/>
            <a:ext cx="1554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$29</a:t>
            </a:r>
            <a:endParaRPr lang="en-US" sz="1100" dirty="0"/>
          </a:p>
        </p:txBody>
      </p:sp>
      <p:sp>
        <p:nvSpPr>
          <p:cNvPr id="89" name="Shape 87"/>
          <p:cNvSpPr/>
          <p:nvPr/>
        </p:nvSpPr>
        <p:spPr>
          <a:xfrm>
            <a:off x="320040" y="5879592"/>
            <a:ext cx="11430000" cy="384048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38100" dist="25400" dir="2700000">
              <a:srgbClr val="AAAAAA">
                <a:alpha val="75000"/>
              </a:srgbClr>
            </a:outerShdw>
          </a:effectLst>
        </p:spPr>
      </p:sp>
      <p:sp>
        <p:nvSpPr>
          <p:cNvPr id="90" name="Text 88"/>
          <p:cNvSpPr/>
          <p:nvPr/>
        </p:nvSpPr>
        <p:spPr>
          <a:xfrm>
            <a:off x="365760" y="5925312"/>
            <a:ext cx="411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100" dirty="0"/>
          </a:p>
        </p:txBody>
      </p:sp>
      <p:sp>
        <p:nvSpPr>
          <p:cNvPr id="91" name="Text 89"/>
          <p:cNvSpPr/>
          <p:nvPr/>
        </p:nvSpPr>
        <p:spPr>
          <a:xfrm>
            <a:off x="804672" y="5925312"/>
            <a:ext cx="5166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Value-Seeker Male</a:t>
            </a:r>
            <a:endParaRPr lang="en-US" sz="1100" dirty="0"/>
          </a:p>
        </p:txBody>
      </p:sp>
      <p:sp>
        <p:nvSpPr>
          <p:cNvPr id="92" name="Text 90"/>
          <p:cNvSpPr/>
          <p:nvPr/>
        </p:nvSpPr>
        <p:spPr>
          <a:xfrm>
            <a:off x="6035040" y="5925312"/>
            <a:ext cx="1051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</a:t>
            </a:r>
            <a:endParaRPr lang="en-US" sz="1000" dirty="0"/>
          </a:p>
        </p:txBody>
      </p:sp>
      <p:sp>
        <p:nvSpPr>
          <p:cNvPr id="93" name="Text 91"/>
          <p:cNvSpPr/>
          <p:nvPr/>
        </p:nvSpPr>
        <p:spPr>
          <a:xfrm>
            <a:off x="7132320" y="5925312"/>
            <a:ext cx="1417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$17</a:t>
            </a:r>
            <a:endParaRPr lang="en-US" sz="1100" dirty="0"/>
          </a:p>
        </p:txBody>
      </p:sp>
      <p:sp>
        <p:nvSpPr>
          <p:cNvPr id="94" name="Text 92"/>
          <p:cNvSpPr/>
          <p:nvPr/>
        </p:nvSpPr>
        <p:spPr>
          <a:xfrm>
            <a:off x="8549640" y="5925312"/>
            <a:ext cx="1554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4.0</a:t>
            </a:r>
            <a:endParaRPr lang="en-US" sz="1100" dirty="0"/>
          </a:p>
        </p:txBody>
      </p:sp>
      <p:sp>
        <p:nvSpPr>
          <p:cNvPr id="95" name="Text 93"/>
          <p:cNvSpPr/>
          <p:nvPr/>
        </p:nvSpPr>
        <p:spPr>
          <a:xfrm>
            <a:off x="10104120" y="5925312"/>
            <a:ext cx="1554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$31</a:t>
            </a:r>
            <a:endParaRPr lang="en-US" sz="1100" dirty="0"/>
          </a:p>
        </p:txBody>
      </p:sp>
      <p:sp>
        <p:nvSpPr>
          <p:cNvPr id="96" name="Text 94"/>
          <p:cNvSpPr/>
          <p:nvPr/>
        </p:nvSpPr>
        <p:spPr>
          <a:xfrm>
            <a:off x="320040" y="6492240"/>
            <a:ext cx="11430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Note: CLV = expected_annual_orders × avg_order_value × 0.45 gross margin. Orders capped at base_annual_orders × engagement. All assumptions in config.yaml.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274320"/>
            <a:ext cx="11521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at a Glance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20040" y="960120"/>
            <a:ext cx="1152144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040" y="1188720"/>
            <a:ext cx="3749040" cy="1920240"/>
          </a:xfrm>
          <a:prstGeom prst="rect">
            <a:avLst/>
          </a:prstGeom>
          <a:solidFill>
            <a:srgbClr val="F8FAFC"/>
          </a:solidFill>
          <a:ln w="12700">
            <a:solidFill>
              <a:srgbClr val="2563EB"/>
            </a:solidFill>
            <a:prstDash val="solid"/>
          </a:ln>
          <a:effectLst>
            <a:outerShdw sx="100000" sy="100000" kx="0" ky="0" algn="bl" rotWithShape="0" blurRad="38100" dist="25400" dir="2700000">
              <a:srgbClr val="AAAAAA">
                <a:alpha val="7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20040" y="1371600"/>
            <a:ext cx="37490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624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411480" y="2194560"/>
            <a:ext cx="35661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weekly deals generated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279392" y="1188720"/>
            <a:ext cx="3749040" cy="1920240"/>
          </a:xfrm>
          <a:prstGeom prst="rect">
            <a:avLst/>
          </a:prstGeom>
          <a:solidFill>
            <a:srgbClr val="F8FAFC"/>
          </a:solidFill>
          <a:ln w="12700">
            <a:solidFill>
              <a:srgbClr val="1B2A4A"/>
            </a:solidFill>
            <a:prstDash val="solid"/>
          </a:ln>
          <a:effectLst>
            <a:outerShdw sx="100000" sy="100000" kx="0" ky="0" algn="bl" rotWithShape="0" blurRad="38100" dist="25400" dir="2700000">
              <a:srgbClr val="AAAAAA">
                <a:alpha val="7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279392" y="1371600"/>
            <a:ext cx="37490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3600" dirty="0"/>
          </a:p>
        </p:txBody>
      </p:sp>
      <p:sp>
        <p:nvSpPr>
          <p:cNvPr id="10" name="Text 8"/>
          <p:cNvSpPr/>
          <p:nvPr/>
        </p:nvSpPr>
        <p:spPr>
          <a:xfrm>
            <a:off x="4370832" y="2194560"/>
            <a:ext cx="35661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Distinct customer profiles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8238744" y="1188720"/>
            <a:ext cx="3749040" cy="1920240"/>
          </a:xfrm>
          <a:prstGeom prst="rect">
            <a:avLst/>
          </a:prstGeom>
          <a:solidFill>
            <a:srgbClr val="F8FAFC"/>
          </a:solidFill>
          <a:ln w="12700">
            <a:solidFill>
              <a:srgbClr val="EA580C"/>
            </a:solidFill>
            <a:prstDash val="solid"/>
          </a:ln>
          <a:effectLst>
            <a:outerShdw sx="100000" sy="100000" kx="0" ky="0" algn="bl" rotWithShape="0" blurRad="38100" dist="25400" dir="2700000">
              <a:srgbClr val="AAAAAA">
                <a:alpha val="7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8238744" y="1371600"/>
            <a:ext cx="37490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$405</a:t>
            </a:r>
            <a:endParaRPr lang="en-US" sz="3600" dirty="0"/>
          </a:p>
        </p:txBody>
      </p:sp>
      <p:sp>
        <p:nvSpPr>
          <p:cNvPr id="13" name="Text 11"/>
          <p:cNvSpPr/>
          <p:nvPr/>
        </p:nvSpPr>
        <p:spPr>
          <a:xfrm>
            <a:off x="8330184" y="2194560"/>
            <a:ext cx="35661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Highest annual CLV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(Outerwear Enthusiast)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320040" y="3429000"/>
            <a:ext cx="3749040" cy="1920240"/>
          </a:xfrm>
          <a:prstGeom prst="rect">
            <a:avLst/>
          </a:prstGeom>
          <a:solidFill>
            <a:srgbClr val="F8FAFC"/>
          </a:solidFill>
          <a:ln w="12700">
            <a:solidFill>
              <a:srgbClr val="166534"/>
            </a:solidFill>
            <a:prstDash val="solid"/>
          </a:ln>
          <a:effectLst>
            <a:outerShdw sx="100000" sy="100000" kx="0" ky="0" algn="bl" rotWithShape="0" blurRad="38100" dist="25400" dir="2700000">
              <a:srgbClr val="AAAAAA">
                <a:alpha val="7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320040" y="3611880"/>
            <a:ext cx="37490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$29</a:t>
            </a:r>
            <a:endParaRPr lang="en-US" sz="3600" dirty="0"/>
          </a:p>
        </p:txBody>
      </p:sp>
      <p:sp>
        <p:nvSpPr>
          <p:cNvPr id="16" name="Text 14"/>
          <p:cNvSpPr/>
          <p:nvPr/>
        </p:nvSpPr>
        <p:spPr>
          <a:xfrm>
            <a:off x="411480" y="4434840"/>
            <a:ext cx="35661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Lowest annual CLV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(Budget Men's Essentials)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4279392" y="3429000"/>
            <a:ext cx="3749040" cy="1920240"/>
          </a:xfrm>
          <a:prstGeom prst="rect">
            <a:avLst/>
          </a:prstGeom>
          <a:solidFill>
            <a:srgbClr val="F8FAFC"/>
          </a:solidFill>
          <a:ln w="12700">
            <a:solidFill>
              <a:srgbClr val="EA580C"/>
            </a:solidFill>
            <a:prstDash val="solid"/>
          </a:ln>
          <a:effectLst>
            <a:outerShdw sx="100000" sy="100000" kx="0" ky="0" algn="bl" rotWithShape="0" blurRad="38100" dist="25400" dir="2700000">
              <a:srgbClr val="AAAAAA">
                <a:alpha val="75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4279392" y="3611880"/>
            <a:ext cx="37490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14×</a:t>
            </a:r>
            <a:endParaRPr lang="en-US" sz="3600" dirty="0"/>
          </a:p>
        </p:txBody>
      </p:sp>
      <p:sp>
        <p:nvSpPr>
          <p:cNvPr id="19" name="Text 17"/>
          <p:cNvSpPr/>
          <p:nvPr/>
        </p:nvSpPr>
        <p:spPr>
          <a:xfrm>
            <a:off x="4370832" y="4434840"/>
            <a:ext cx="35661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Premium vs Value CLV spread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8238744" y="3429000"/>
            <a:ext cx="3749040" cy="1920240"/>
          </a:xfrm>
          <a:prstGeom prst="rect">
            <a:avLst/>
          </a:prstGeom>
          <a:solidFill>
            <a:srgbClr val="F8FAFC"/>
          </a:solidFill>
          <a:ln w="12700">
            <a:solidFill>
              <a:srgbClr val="64748B"/>
            </a:solidFill>
            <a:prstDash val="solid"/>
          </a:ln>
          <a:effectLst>
            <a:outerShdw sx="100000" sy="100000" kx="0" ky="0" algn="bl" rotWithShape="0" blurRad="38100" dist="25400" dir="2700000">
              <a:srgbClr val="AAAAAA">
                <a:alpha val="75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8238744" y="3611880"/>
            <a:ext cx="37490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3600" dirty="0"/>
          </a:p>
        </p:txBody>
      </p:sp>
      <p:sp>
        <p:nvSpPr>
          <p:cNvPr id="22" name="Text 20"/>
          <p:cNvSpPr/>
          <p:nvPr/>
        </p:nvSpPr>
        <p:spPr>
          <a:xfrm>
            <a:off x="8330184" y="4434840"/>
            <a:ext cx="35661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API calls at pipeline run time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320040" y="5532120"/>
            <a:ext cx="11430000" cy="1097280"/>
          </a:xfrm>
          <a:prstGeom prst="rect">
            <a:avLst/>
          </a:prstGeom>
          <a:solidFill>
            <a:srgbClr val="DBEAFE"/>
          </a:solidFill>
          <a:ln w="12700">
            <a:solidFill>
              <a:srgbClr val="2563EB"/>
            </a:solidFill>
            <a:prstDash val="solid"/>
          </a:ln>
          <a:effectLst>
            <a:outerShdw sx="100000" sy="100000" kx="0" ky="0" algn="bl" rotWithShape="0" blurRad="38100" dist="25400" dir="2700000">
              <a:srgbClr val="AAAAAA">
                <a:alpha val="75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320040" y="5623560"/>
            <a:ext cx="11521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Standout Deals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457200" y="5897880"/>
            <a:ext cx="1115568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Outerwear Enthusiast (Cluster 10): Week 45 — Columbia Winter Down Parka ($214) + Gucci Crossbody Bag bundle — affinity 0.91, season weight 1.5 → highest single-deal conversion score.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Fitness-Forward Woman (Cluster 5): Week 1 — Columbia High-Waist Yoga Leggings ($40) + Under Armour top bundle — January seasonality peak, affinity 0.88.</a:t>
            </a:r>
            <a:endParaRPr lang="en-US" sz="11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274320"/>
            <a:ext cx="11521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Limitations — and What We'd Do With More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20040" y="960120"/>
            <a:ext cx="1152144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040" y="1097280"/>
            <a:ext cx="5577840" cy="2423160"/>
          </a:xfrm>
          <a:prstGeom prst="rect">
            <a:avLst/>
          </a:prstGeom>
          <a:solidFill>
            <a:srgbClr val="F8FAFC"/>
          </a:solidFill>
          <a:ln w="12700">
            <a:solidFill>
              <a:srgbClr val="EA580C"/>
            </a:solidFill>
            <a:prstDash val="solid"/>
          </a:ln>
          <a:effectLst>
            <a:outerShdw sx="100000" sy="100000" kx="0" ky="0" algn="bl" rotWithShape="0" blurRad="38100" dist="25400" dir="2700000">
              <a:srgbClr val="AAAAAA">
                <a:alpha val="7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097280"/>
            <a:ext cx="5577840" cy="475488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29768" y="1152144"/>
            <a:ext cx="5349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Transaction Log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29768" y="1645920"/>
            <a:ext cx="5349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limitation: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29768" y="1901952"/>
            <a:ext cx="5349240" cy="7498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Conversion is a modelled estimate with stated assumptions (base p=0.06, margin=0.45, annual cap=4 orders). No ground truth to validate against.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29768" y="2670048"/>
            <a:ext cx="5349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more time / data: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29768" y="2926080"/>
            <a:ext cx="534924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click/purchase logs: replace the conversion model with logistic regression or survival analysis. Validate affinity scores against actual purchase rates.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153912" y="1097280"/>
            <a:ext cx="5577840" cy="2423160"/>
          </a:xfrm>
          <a:prstGeom prst="rect">
            <a:avLst/>
          </a:prstGeom>
          <a:solidFill>
            <a:srgbClr val="F8FAFC"/>
          </a:solidFill>
          <a:ln w="12700">
            <a:solidFill>
              <a:srgbClr val="2563EB"/>
            </a:solidFill>
            <a:prstDash val="solid"/>
          </a:ln>
          <a:effectLst>
            <a:outerShdw sx="100000" sy="100000" kx="0" ky="0" algn="bl" rotWithShape="0" blurRad="38100" dist="25400" dir="2700000">
              <a:srgbClr val="AAAAAA">
                <a:alpha val="7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153912" y="1097280"/>
            <a:ext cx="5577840" cy="47548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263640" y="1152144"/>
            <a:ext cx="5349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Forced k=12 Clusters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263640" y="1645920"/>
            <a:ext cx="5349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limitation: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6263640" y="1901952"/>
            <a:ext cx="5349240" cy="7498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KMeans requires the cluster count to be specified. 12 is the brief requirement but may not be the natural structure in the data.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263640" y="2670048"/>
            <a:ext cx="5349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more time / data: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263640" y="2926080"/>
            <a:ext cx="534924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more time: HDBSCAN or GMM to let cluster count emerge. Silhouette + Davies-Bouldin analysis to validate the right k. Could surface 8 or 16 profiles.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20040" y="3749040"/>
            <a:ext cx="5577840" cy="2423160"/>
          </a:xfrm>
          <a:prstGeom prst="rect">
            <a:avLst/>
          </a:prstGeom>
          <a:solidFill>
            <a:srgbClr val="F8FAFC"/>
          </a:solidFill>
          <a:ln w="12700">
            <a:solidFill>
              <a:srgbClr val="1B2A4A"/>
            </a:solidFill>
            <a:prstDash val="solid"/>
          </a:ln>
          <a:effectLst>
            <a:outerShdw sx="100000" sy="100000" kx="0" ky="0" algn="bl" rotWithShape="0" blurRad="38100" dist="25400" dir="2700000">
              <a:srgbClr val="AAAAAA">
                <a:alpha val="7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20040" y="3749040"/>
            <a:ext cx="5577840" cy="47548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29768" y="3803904"/>
            <a:ext cx="5349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Holdout Assignment Stub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29768" y="4297680"/>
            <a:ext cx="5349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limitation: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29768" y="4553712"/>
            <a:ext cx="5349240" cy="7498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Non-sampled products are not formally assigned to a cluster in Stage 4. The centroid + scaler parameters are not persisted in the current implementation.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29768" y="5321808"/>
            <a:ext cx="5349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more time / data: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429768" y="5577840"/>
            <a:ext cx="534924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 KMeans centroids + StandardScaler. Use nearest-centroid assignment for all holdout products. Would tighten campaign candidate filtering.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6153912" y="3749040"/>
            <a:ext cx="5577840" cy="2423160"/>
          </a:xfrm>
          <a:prstGeom prst="rect">
            <a:avLst/>
          </a:prstGeom>
          <a:solidFill>
            <a:srgbClr val="F8FAFC"/>
          </a:solidFill>
          <a:ln w="12700">
            <a:solidFill>
              <a:srgbClr val="166534"/>
            </a:solidFill>
            <a:prstDash val="solid"/>
          </a:ln>
          <a:effectLst>
            <a:outerShdw sx="100000" sy="100000" kx="0" ky="0" algn="bl" rotWithShape="0" blurRad="38100" dist="25400" dir="2700000">
              <a:srgbClr val="AAAAAA">
                <a:alpha val="75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6153912" y="3749040"/>
            <a:ext cx="5577840" cy="475488"/>
          </a:xfrm>
          <a:prstGeom prst="rect">
            <a:avLst/>
          </a:prstGeom>
          <a:solidFill>
            <a:srgbClr val="166534"/>
          </a:solidFill>
          <a:ln w="12700">
            <a:solidFill>
              <a:srgbClr val="166534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263640" y="3803904"/>
            <a:ext cx="5349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Assumption-Driven Priors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6263640" y="4297680"/>
            <a:ext cx="5349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limitation: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6263640" y="4553712"/>
            <a:ext cx="5349240" cy="7498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Seasonality weights, gross margin (0.45), base annual orders (4), and fatigue decay (0.92) are all assumed, not measured. They are tunable in config.yaml.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6263640" y="5321808"/>
            <a:ext cx="5349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more time / data: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6263640" y="5577840"/>
            <a:ext cx="534924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Calibrate from industry benchmarks or retailer-supplied priors. A sensitivity analysis shows how CLV ranges move with ±20% changes in each assumption.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274320"/>
            <a:ext cx="11521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Appendix — Reproducibility &amp; Repo Structure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20040" y="960120"/>
            <a:ext cx="1152144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040" y="1097280"/>
            <a:ext cx="5394960" cy="5029200"/>
          </a:xfrm>
          <a:prstGeom prst="rect">
            <a:avLst/>
          </a:prstGeom>
          <a:solidFill>
            <a:srgbClr val="DBEAFE"/>
          </a:solidFill>
          <a:ln w="12700">
            <a:solidFill>
              <a:srgbClr val="2563EB"/>
            </a:solidFill>
            <a:prstDash val="solid"/>
          </a:ln>
          <a:effectLst>
            <a:outerShdw sx="100000" sy="100000" kx="0" ky="0" algn="bl" rotWithShape="0" blurRad="38100" dist="25400" dir="2700000">
              <a:srgbClr val="AAAAAA">
                <a:alpha val="7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20040" y="1234440"/>
            <a:ext cx="11521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Repository Layout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11480" y="1645920"/>
            <a:ext cx="521208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 (Body)" pitchFamily="34" charset="0"/>
                <a:ea typeface="Calibri (Body)" pitchFamily="34" charset="-122"/>
                <a:cs typeface="Calibri (Body)" pitchFamily="34" charset="-120"/>
              </a:rPr>
              <a:t>src/               — 6 pipeline stage modules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411480" y="2011680"/>
            <a:ext cx="521208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 (Body)" pitchFamily="34" charset="0"/>
                <a:ea typeface="Calibri (Body)" pitchFamily="34" charset="-122"/>
                <a:cs typeface="Calibri (Body)" pitchFamily="34" charset="-120"/>
              </a:rPr>
              <a:t>scripts/           — download, brandmap, synthetic, render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411480" y="2377440"/>
            <a:ext cx="521208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 (Body)" pitchFamily="34" charset="0"/>
                <a:ea typeface="Calibri (Body)" pitchFamily="34" charset="-122"/>
                <a:cs typeface="Calibri (Body)" pitchFamily="34" charset="-120"/>
              </a:rPr>
              <a:t>data/raw/          — corpus (gitignored)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411480" y="2743200"/>
            <a:ext cx="521208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 (Body)" pitchFamily="34" charset="0"/>
                <a:ea typeface="Calibri (Body)" pitchFamily="34" charset="-122"/>
                <a:cs typeface="Calibri (Body)" pitchFamily="34" charset="-120"/>
              </a:rPr>
              <a:t>data/interim/      — parquet shards (gitignored)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411480" y="3108960"/>
            <a:ext cx="521208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 (Body)" pitchFamily="34" charset="0"/>
                <a:ea typeface="Calibri (Body)" pitchFamily="34" charset="-122"/>
                <a:cs typeface="Calibri (Body)" pitchFamily="34" charset="-120"/>
              </a:rPr>
              <a:t>data/processed/    — brand_stats, campaign, valuation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411480" y="3474720"/>
            <a:ext cx="521208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 (Body)" pitchFamily="34" charset="0"/>
                <a:ea typeface="Calibri (Body)" pitchFamily="34" charset="-122"/>
                <a:cs typeface="Calibri (Body)" pitchFamily="34" charset="-120"/>
              </a:rPr>
              <a:t>data/reference/    — taxonomy.py, brand_map.json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411480" y="3840480"/>
            <a:ext cx="521208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 (Body)" pitchFamily="34" charset="0"/>
                <a:ea typeface="Calibri (Body)" pitchFamily="34" charset="-122"/>
                <a:cs typeface="Calibri (Body)" pitchFamily="34" charset="-120"/>
              </a:rPr>
              <a:t>llm/prompts/       — 2 prompt templates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411480" y="4206240"/>
            <a:ext cx="521208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 (Body)" pitchFamily="34" charset="0"/>
                <a:ea typeface="Calibri (Body)" pitchFamily="34" charset="-122"/>
                <a:cs typeface="Calibri (Body)" pitchFamily="34" charset="-120"/>
              </a:rPr>
              <a:t>llm/inputs/        — profile_fingerprints.json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411480" y="4572000"/>
            <a:ext cx="521208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 (Body)" pitchFamily="34" charset="0"/>
                <a:ea typeface="Calibri (Body)" pitchFamily="34" charset="-122"/>
                <a:cs typeface="Calibri (Body)" pitchFamily="34" charset="-120"/>
              </a:rPr>
              <a:t>llm/outputs/       — saved model responses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411480" y="4937760"/>
            <a:ext cx="521208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 (Body)" pitchFamily="34" charset="0"/>
                <a:ea typeface="Calibri (Body)" pitchFamily="34" charset="-122"/>
                <a:cs typeface="Calibri (Body)" pitchFamily="34" charset="-120"/>
              </a:rPr>
              <a:t>profiles/          — profiles.json + cards/*.md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411480" y="5303520"/>
            <a:ext cx="521208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 (Body)" pitchFamily="34" charset="0"/>
                <a:ea typeface="Calibri (Body)" pitchFamily="34" charset="-122"/>
                <a:cs typeface="Calibri (Body)" pitchFamily="34" charset="-120"/>
              </a:rPr>
              <a:t>config.yaml        — all tunable parameters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411480" y="5669280"/>
            <a:ext cx="521208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 (Body)" pitchFamily="34" charset="0"/>
                <a:ea typeface="Calibri (Body)" pitchFamily="34" charset="-122"/>
                <a:cs typeface="Calibri (Body)" pitchFamily="34" charset="-120"/>
              </a:rPr>
              <a:t>Makefile           — make smoke / make all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5897880" y="1097280"/>
            <a:ext cx="6126480" cy="2377440"/>
          </a:xfrm>
          <a:prstGeom prst="rect">
            <a:avLst/>
          </a:prstGeom>
          <a:solidFill>
            <a:srgbClr val="DCFCE7"/>
          </a:solidFill>
          <a:ln w="12700">
            <a:solidFill>
              <a:srgbClr val="166534"/>
            </a:solidFill>
            <a:prstDash val="solid"/>
          </a:ln>
          <a:effectLst>
            <a:outerShdw sx="100000" sy="100000" kx="0" ky="0" algn="bl" rotWithShape="0" blurRad="38100" dist="25400" dir="2700000">
              <a:srgbClr val="AAAAAA">
                <a:alpha val="75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6035040" y="1234440"/>
            <a:ext cx="11521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Reproducibility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035040" y="1645920"/>
            <a:ext cx="5897880" cy="1691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spcAft>
                <a:spcPts val="400"/>
              </a:spcAft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 smoke → full run on 20k synthetic records, no download</a:t>
            </a:r>
            <a:endParaRPr lang="en-US" sz="1150" dirty="0"/>
          </a:p>
          <a:p>
            <a:pPr>
              <a:spcAft>
                <a:spcPts val="400"/>
              </a:spcAft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 all → real run, deterministic end-to-end</a:t>
            </a:r>
            <a:endParaRPr lang="en-US" sz="1150" dirty="0"/>
          </a:p>
          <a:p>
            <a:pPr>
              <a:spcAft>
                <a:spcPts val="400"/>
              </a:spcAft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steps: prompts + raw outputs saved in llm/outputs/</a:t>
            </a:r>
            <a:endParaRPr lang="en-US" sz="1150" dirty="0"/>
          </a:p>
          <a:p>
            <a:pPr>
              <a:spcAft>
                <a:spcPts val="400"/>
              </a:spcAft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reviewer can re-run every deterministic stage with zero tokens</a:t>
            </a:r>
            <a:endParaRPr lang="en-US" sz="1150" dirty="0"/>
          </a:p>
          <a:p>
            <a:pPr>
              <a:spcAft>
                <a:spcPts val="400"/>
              </a:spcAft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random_state=42 and seed=42 throughout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5897880" y="3611880"/>
            <a:ext cx="6126480" cy="2514600"/>
          </a:xfrm>
          <a:prstGeom prst="rect">
            <a:avLst/>
          </a:prstGeom>
          <a:solidFill>
            <a:srgbClr val="FEF3C7"/>
          </a:solidFill>
          <a:ln w="12700">
            <a:solidFill>
              <a:srgbClr val="EA580C"/>
            </a:solidFill>
            <a:prstDash val="solid"/>
          </a:ln>
          <a:effectLst>
            <a:outerShdw sx="100000" sy="100000" kx="0" ky="0" algn="bl" rotWithShape="0" blurRad="38100" dist="25400" dir="2700000">
              <a:srgbClr val="AAAAAA">
                <a:alpha val="75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035040" y="3749040"/>
            <a:ext cx="11521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Configuration (config.yaml)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6035040" y="4206240"/>
            <a:ext cx="5897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batch_size: </a:t>
            </a:r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50,000 records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035040" y="4535424"/>
            <a:ext cx="5897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discovery_frac: </a:t>
            </a:r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0.70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035040" y="4864608"/>
            <a:ext cx="5897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min_items_real: </a:t>
            </a:r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 items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035040" y="5193792"/>
            <a:ext cx="5897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bw1_weight / bw2_weight: </a:t>
            </a:r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1.0 / 0.35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035040" y="5522976"/>
            <a:ext cx="5897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n_profiles: </a:t>
            </a:r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6035040" y="5852160"/>
            <a:ext cx="5897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gross_margin: </a:t>
            </a:r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0.45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6035040" y="6181344"/>
            <a:ext cx="5897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base_annual_orders: </a:t>
            </a:r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4.0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6035040" y="6510528"/>
            <a:ext cx="5897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offer_fatigue_decay: </a:t>
            </a:r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0.92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2026-06-16T04:20:51Z</dcterms:created>
  <dcterms:modified xsi:type="dcterms:W3CDTF">2026-06-16T04:20:51Z</dcterms:modified>
</cp:coreProperties>
</file>